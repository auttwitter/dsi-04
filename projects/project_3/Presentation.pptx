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9"/>
  </p:notesMasterIdLst>
  <p:sldIdLst>
    <p:sldId id="256" r:id="rId2"/>
    <p:sldId id="271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73" r:id="rId11"/>
    <p:sldId id="262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1F25"/>
    <a:srgbClr val="004A97"/>
    <a:srgbClr val="F40009"/>
    <a:srgbClr val="FFFFFF"/>
    <a:srgbClr val="FF4500"/>
    <a:srgbClr val="134A84"/>
    <a:srgbClr val="FEFBFB"/>
    <a:srgbClr val="D71F25"/>
    <a:srgbClr val="D41515"/>
    <a:srgbClr val="050E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BCBE6D-A9BE-43AC-9A2F-D7910D234D4E}" v="307" dt="2024-11-21T08:15:04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212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DED37A-D7DF-43AA-9DD0-F8C33740B819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866907-EC30-41D0-ADBC-AB4324976AE6}">
      <dgm:prSet phldrT="[Text]" custT="1"/>
      <dgm:spPr/>
      <dgm:t>
        <a:bodyPr/>
        <a:lstStyle/>
        <a:p>
          <a:r>
            <a:rPr lang="en-US" sz="4800" b="0" dirty="0" err="1"/>
            <a:t>ngrams</a:t>
          </a:r>
          <a:endParaRPr lang="en-US" sz="2800" b="0" dirty="0"/>
        </a:p>
      </dgm:t>
    </dgm:pt>
    <dgm:pt modelId="{8011AEFC-35E4-4EC3-8847-A1E81B7D0412}" type="parTrans" cxnId="{F2053BFE-1808-4D2B-AF35-285D96E403E6}">
      <dgm:prSet/>
      <dgm:spPr/>
      <dgm:t>
        <a:bodyPr/>
        <a:lstStyle/>
        <a:p>
          <a:endParaRPr lang="en-US"/>
        </a:p>
      </dgm:t>
    </dgm:pt>
    <dgm:pt modelId="{27595991-C8E3-49BC-A6DE-2856083DDFEB}" type="sibTrans" cxnId="{F2053BFE-1808-4D2B-AF35-285D96E403E6}">
      <dgm:prSet/>
      <dgm:spPr/>
      <dgm:t>
        <a:bodyPr/>
        <a:lstStyle/>
        <a:p>
          <a:endParaRPr lang="en-US"/>
        </a:p>
      </dgm:t>
    </dgm:pt>
    <dgm:pt modelId="{580CE9B7-BFF8-4E87-9225-7AB5537CC99F}">
      <dgm:prSet phldrT="[Text]" custT="1"/>
      <dgm:spPr/>
      <dgm:t>
        <a:bodyPr/>
        <a:lstStyle/>
        <a:p>
          <a:r>
            <a:rPr lang="en-US" sz="2800" dirty="0"/>
            <a:t>(1,2) better than (1,1)</a:t>
          </a:r>
        </a:p>
      </dgm:t>
    </dgm:pt>
    <dgm:pt modelId="{A0FC0ACA-E753-4694-BB1E-8A4C15933F49}" type="parTrans" cxnId="{C9E6ED1B-5ED3-4C17-8B15-05854DE39DFB}">
      <dgm:prSet/>
      <dgm:spPr/>
      <dgm:t>
        <a:bodyPr/>
        <a:lstStyle/>
        <a:p>
          <a:endParaRPr lang="en-US"/>
        </a:p>
      </dgm:t>
    </dgm:pt>
    <dgm:pt modelId="{180BCC04-0314-4B00-B785-6F74B8040776}" type="sibTrans" cxnId="{C9E6ED1B-5ED3-4C17-8B15-05854DE39DFB}">
      <dgm:prSet/>
      <dgm:spPr/>
      <dgm:t>
        <a:bodyPr/>
        <a:lstStyle/>
        <a:p>
          <a:endParaRPr lang="en-US"/>
        </a:p>
      </dgm:t>
    </dgm:pt>
    <dgm:pt modelId="{D834ED95-AA47-4DCF-BF58-79FFF2CF5DC9}">
      <dgm:prSet phldrT="[Text]" custT="1"/>
      <dgm:spPr/>
      <dgm:t>
        <a:bodyPr/>
        <a:lstStyle/>
        <a:p>
          <a:r>
            <a:rPr lang="en-US" sz="4400" dirty="0" err="1"/>
            <a:t>min_df</a:t>
          </a:r>
          <a:endParaRPr lang="en-US" sz="4400" dirty="0"/>
        </a:p>
      </dgm:t>
    </dgm:pt>
    <dgm:pt modelId="{4DA3AAA5-73D3-4680-AC76-8121B8BC3034}" type="parTrans" cxnId="{B291EE32-15B9-426C-96EB-F33A680938C5}">
      <dgm:prSet/>
      <dgm:spPr/>
      <dgm:t>
        <a:bodyPr/>
        <a:lstStyle/>
        <a:p>
          <a:endParaRPr lang="en-US"/>
        </a:p>
      </dgm:t>
    </dgm:pt>
    <dgm:pt modelId="{D3612CCB-08CF-43D7-A096-C7D52B7F4456}" type="sibTrans" cxnId="{B291EE32-15B9-426C-96EB-F33A680938C5}">
      <dgm:prSet/>
      <dgm:spPr/>
      <dgm:t>
        <a:bodyPr/>
        <a:lstStyle/>
        <a:p>
          <a:endParaRPr lang="en-US"/>
        </a:p>
      </dgm:t>
    </dgm:pt>
    <dgm:pt modelId="{A8C15176-0CF0-4E0B-BE4A-BBE113D5404A}">
      <dgm:prSet phldrT="[Text]" custT="1"/>
      <dgm:spPr/>
      <dgm:t>
        <a:bodyPr/>
        <a:lstStyle/>
        <a:p>
          <a:r>
            <a:rPr lang="en-US" sz="2800" dirty="0"/>
            <a:t>Least </a:t>
          </a:r>
          <a:r>
            <a:rPr lang="en-US" sz="2800" dirty="0" err="1"/>
            <a:t>min_df</a:t>
          </a:r>
          <a:r>
            <a:rPr lang="en-US" sz="2800" dirty="0"/>
            <a:t>  More Accurate Score</a:t>
          </a:r>
        </a:p>
      </dgm:t>
    </dgm:pt>
    <dgm:pt modelId="{69A5F12C-622F-4DBD-9D54-879CA7616449}" type="parTrans" cxnId="{5C839788-7BF4-4C41-893D-B7558AEBDDB5}">
      <dgm:prSet/>
      <dgm:spPr/>
      <dgm:t>
        <a:bodyPr/>
        <a:lstStyle/>
        <a:p>
          <a:endParaRPr lang="en-US"/>
        </a:p>
      </dgm:t>
    </dgm:pt>
    <dgm:pt modelId="{E42E085F-77FB-4220-8682-D654D9FF0790}" type="sibTrans" cxnId="{5C839788-7BF4-4C41-893D-B7558AEBDDB5}">
      <dgm:prSet/>
      <dgm:spPr/>
      <dgm:t>
        <a:bodyPr/>
        <a:lstStyle/>
        <a:p>
          <a:endParaRPr lang="en-US"/>
        </a:p>
      </dgm:t>
    </dgm:pt>
    <dgm:pt modelId="{2DA9B6BA-1C8B-4E60-B3E6-9967B779D290}" type="pres">
      <dgm:prSet presAssocID="{25DED37A-D7DF-43AA-9DD0-F8C33740B819}" presName="Name0" presStyleCnt="0">
        <dgm:presLayoutVars>
          <dgm:dir/>
          <dgm:animLvl val="lvl"/>
          <dgm:resizeHandles val="exact"/>
        </dgm:presLayoutVars>
      </dgm:prSet>
      <dgm:spPr/>
    </dgm:pt>
    <dgm:pt modelId="{3A658F7A-AB70-45A0-A197-58E40AF0F547}" type="pres">
      <dgm:prSet presAssocID="{D834ED95-AA47-4DCF-BF58-79FFF2CF5DC9}" presName="boxAndChildren" presStyleCnt="0"/>
      <dgm:spPr/>
    </dgm:pt>
    <dgm:pt modelId="{CF226247-DF65-486E-9A2A-16CB11EF164F}" type="pres">
      <dgm:prSet presAssocID="{D834ED95-AA47-4DCF-BF58-79FFF2CF5DC9}" presName="parentTextBox" presStyleLbl="node1" presStyleIdx="0" presStyleCnt="2"/>
      <dgm:spPr/>
    </dgm:pt>
    <dgm:pt modelId="{115F35E9-76DD-4149-8473-02B3B2B394A6}" type="pres">
      <dgm:prSet presAssocID="{D834ED95-AA47-4DCF-BF58-79FFF2CF5DC9}" presName="entireBox" presStyleLbl="node1" presStyleIdx="0" presStyleCnt="2"/>
      <dgm:spPr/>
    </dgm:pt>
    <dgm:pt modelId="{38089CB0-1D05-481F-AD8B-CEDFEAF6C9A1}" type="pres">
      <dgm:prSet presAssocID="{D834ED95-AA47-4DCF-BF58-79FFF2CF5DC9}" presName="descendantBox" presStyleCnt="0"/>
      <dgm:spPr/>
    </dgm:pt>
    <dgm:pt modelId="{FAD703D1-B02F-4C02-A849-209DAA94C3C6}" type="pres">
      <dgm:prSet presAssocID="{A8C15176-0CF0-4E0B-BE4A-BBE113D5404A}" presName="childTextBox" presStyleLbl="fgAccFollowNode1" presStyleIdx="0" presStyleCnt="2">
        <dgm:presLayoutVars>
          <dgm:bulletEnabled val="1"/>
        </dgm:presLayoutVars>
      </dgm:prSet>
      <dgm:spPr/>
    </dgm:pt>
    <dgm:pt modelId="{F97C8866-048F-484E-A750-15EDE62D8AA1}" type="pres">
      <dgm:prSet presAssocID="{27595991-C8E3-49BC-A6DE-2856083DDFEB}" presName="sp" presStyleCnt="0"/>
      <dgm:spPr/>
    </dgm:pt>
    <dgm:pt modelId="{8B2E8BCB-F749-4B9E-8E04-AEA02DC52D5D}" type="pres">
      <dgm:prSet presAssocID="{3E866907-EC30-41D0-ADBC-AB4324976AE6}" presName="arrowAndChildren" presStyleCnt="0"/>
      <dgm:spPr/>
    </dgm:pt>
    <dgm:pt modelId="{9B670452-EEF1-4390-BBDC-7C7102A0E1B9}" type="pres">
      <dgm:prSet presAssocID="{3E866907-EC30-41D0-ADBC-AB4324976AE6}" presName="parentTextArrow" presStyleLbl="node1" presStyleIdx="0" presStyleCnt="2"/>
      <dgm:spPr/>
    </dgm:pt>
    <dgm:pt modelId="{B1B044BD-0682-4C14-AE92-9532DC8A5656}" type="pres">
      <dgm:prSet presAssocID="{3E866907-EC30-41D0-ADBC-AB4324976AE6}" presName="arrow" presStyleLbl="node1" presStyleIdx="1" presStyleCnt="2" custLinFactNeighborX="-17847" custLinFactNeighborY="-6549"/>
      <dgm:spPr/>
    </dgm:pt>
    <dgm:pt modelId="{4EF6A07A-6A09-4325-B41E-2B8B9C3DA3A0}" type="pres">
      <dgm:prSet presAssocID="{3E866907-EC30-41D0-ADBC-AB4324976AE6}" presName="descendantArrow" presStyleCnt="0"/>
      <dgm:spPr/>
    </dgm:pt>
    <dgm:pt modelId="{67679BB8-0B02-4372-95CA-BADE43C2C3AD}" type="pres">
      <dgm:prSet presAssocID="{580CE9B7-BFF8-4E87-9225-7AB5537CC99F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C9E6ED1B-5ED3-4C17-8B15-05854DE39DFB}" srcId="{3E866907-EC30-41D0-ADBC-AB4324976AE6}" destId="{580CE9B7-BFF8-4E87-9225-7AB5537CC99F}" srcOrd="0" destOrd="0" parTransId="{A0FC0ACA-E753-4694-BB1E-8A4C15933F49}" sibTransId="{180BCC04-0314-4B00-B785-6F74B8040776}"/>
    <dgm:cxn modelId="{20CEC428-787D-4B62-BA61-1F7609D42EEA}" type="presOf" srcId="{580CE9B7-BFF8-4E87-9225-7AB5537CC99F}" destId="{67679BB8-0B02-4372-95CA-BADE43C2C3AD}" srcOrd="0" destOrd="0" presId="urn:microsoft.com/office/officeart/2005/8/layout/process4"/>
    <dgm:cxn modelId="{B291EE32-15B9-426C-96EB-F33A680938C5}" srcId="{25DED37A-D7DF-43AA-9DD0-F8C33740B819}" destId="{D834ED95-AA47-4DCF-BF58-79FFF2CF5DC9}" srcOrd="1" destOrd="0" parTransId="{4DA3AAA5-73D3-4680-AC76-8121B8BC3034}" sibTransId="{D3612CCB-08CF-43D7-A096-C7D52B7F4456}"/>
    <dgm:cxn modelId="{6F52D03E-5F8F-4879-879A-5F54652F7A65}" type="presOf" srcId="{D834ED95-AA47-4DCF-BF58-79FFF2CF5DC9}" destId="{CF226247-DF65-486E-9A2A-16CB11EF164F}" srcOrd="0" destOrd="0" presId="urn:microsoft.com/office/officeart/2005/8/layout/process4"/>
    <dgm:cxn modelId="{6F452873-DDB4-4FA2-AADA-458B9EFADA6B}" type="presOf" srcId="{D834ED95-AA47-4DCF-BF58-79FFF2CF5DC9}" destId="{115F35E9-76DD-4149-8473-02B3B2B394A6}" srcOrd="1" destOrd="0" presId="urn:microsoft.com/office/officeart/2005/8/layout/process4"/>
    <dgm:cxn modelId="{921E3479-0820-453A-8DB7-EC9C9A1BA942}" type="presOf" srcId="{25DED37A-D7DF-43AA-9DD0-F8C33740B819}" destId="{2DA9B6BA-1C8B-4E60-B3E6-9967B779D290}" srcOrd="0" destOrd="0" presId="urn:microsoft.com/office/officeart/2005/8/layout/process4"/>
    <dgm:cxn modelId="{5C839788-7BF4-4C41-893D-B7558AEBDDB5}" srcId="{D834ED95-AA47-4DCF-BF58-79FFF2CF5DC9}" destId="{A8C15176-0CF0-4E0B-BE4A-BBE113D5404A}" srcOrd="0" destOrd="0" parTransId="{69A5F12C-622F-4DBD-9D54-879CA7616449}" sibTransId="{E42E085F-77FB-4220-8682-D654D9FF0790}"/>
    <dgm:cxn modelId="{976D50E7-302A-48FB-B619-B8D9C2351F84}" type="presOf" srcId="{3E866907-EC30-41D0-ADBC-AB4324976AE6}" destId="{9B670452-EEF1-4390-BBDC-7C7102A0E1B9}" srcOrd="0" destOrd="0" presId="urn:microsoft.com/office/officeart/2005/8/layout/process4"/>
    <dgm:cxn modelId="{0D48FCEB-E375-4FB7-8E0D-7396A0AF594D}" type="presOf" srcId="{A8C15176-0CF0-4E0B-BE4A-BBE113D5404A}" destId="{FAD703D1-B02F-4C02-A849-209DAA94C3C6}" srcOrd="0" destOrd="0" presId="urn:microsoft.com/office/officeart/2005/8/layout/process4"/>
    <dgm:cxn modelId="{3A4CE3EF-CDF6-472E-941E-FF272BACF967}" type="presOf" srcId="{3E866907-EC30-41D0-ADBC-AB4324976AE6}" destId="{B1B044BD-0682-4C14-AE92-9532DC8A5656}" srcOrd="1" destOrd="0" presId="urn:microsoft.com/office/officeart/2005/8/layout/process4"/>
    <dgm:cxn modelId="{F2053BFE-1808-4D2B-AF35-285D96E403E6}" srcId="{25DED37A-D7DF-43AA-9DD0-F8C33740B819}" destId="{3E866907-EC30-41D0-ADBC-AB4324976AE6}" srcOrd="0" destOrd="0" parTransId="{8011AEFC-35E4-4EC3-8847-A1E81B7D0412}" sibTransId="{27595991-C8E3-49BC-A6DE-2856083DDFEB}"/>
    <dgm:cxn modelId="{7BA3C8B6-3584-4098-9B83-C44362DB9FED}" type="presParOf" srcId="{2DA9B6BA-1C8B-4E60-B3E6-9967B779D290}" destId="{3A658F7A-AB70-45A0-A197-58E40AF0F547}" srcOrd="0" destOrd="0" presId="urn:microsoft.com/office/officeart/2005/8/layout/process4"/>
    <dgm:cxn modelId="{55878E3F-845C-474C-9EC2-E90745F0A03E}" type="presParOf" srcId="{3A658F7A-AB70-45A0-A197-58E40AF0F547}" destId="{CF226247-DF65-486E-9A2A-16CB11EF164F}" srcOrd="0" destOrd="0" presId="urn:microsoft.com/office/officeart/2005/8/layout/process4"/>
    <dgm:cxn modelId="{13B0F2F9-A691-4185-836D-57B4C3113F5F}" type="presParOf" srcId="{3A658F7A-AB70-45A0-A197-58E40AF0F547}" destId="{115F35E9-76DD-4149-8473-02B3B2B394A6}" srcOrd="1" destOrd="0" presId="urn:microsoft.com/office/officeart/2005/8/layout/process4"/>
    <dgm:cxn modelId="{485DA7A9-AEB9-4D91-BFEB-6DDD8A27DC56}" type="presParOf" srcId="{3A658F7A-AB70-45A0-A197-58E40AF0F547}" destId="{38089CB0-1D05-481F-AD8B-CEDFEAF6C9A1}" srcOrd="2" destOrd="0" presId="urn:microsoft.com/office/officeart/2005/8/layout/process4"/>
    <dgm:cxn modelId="{C05710FF-4AEE-4966-8F39-3EB3B773ABFF}" type="presParOf" srcId="{38089CB0-1D05-481F-AD8B-CEDFEAF6C9A1}" destId="{FAD703D1-B02F-4C02-A849-209DAA94C3C6}" srcOrd="0" destOrd="0" presId="urn:microsoft.com/office/officeart/2005/8/layout/process4"/>
    <dgm:cxn modelId="{F1C650D6-E024-477C-A9BD-2EBB86F72100}" type="presParOf" srcId="{2DA9B6BA-1C8B-4E60-B3E6-9967B779D290}" destId="{F97C8866-048F-484E-A750-15EDE62D8AA1}" srcOrd="1" destOrd="0" presId="urn:microsoft.com/office/officeart/2005/8/layout/process4"/>
    <dgm:cxn modelId="{E07D490C-6A17-459A-80F5-8C75ADD99156}" type="presParOf" srcId="{2DA9B6BA-1C8B-4E60-B3E6-9967B779D290}" destId="{8B2E8BCB-F749-4B9E-8E04-AEA02DC52D5D}" srcOrd="2" destOrd="0" presId="urn:microsoft.com/office/officeart/2005/8/layout/process4"/>
    <dgm:cxn modelId="{0DD026AD-19CC-4649-BB4D-76B17715C4BD}" type="presParOf" srcId="{8B2E8BCB-F749-4B9E-8E04-AEA02DC52D5D}" destId="{9B670452-EEF1-4390-BBDC-7C7102A0E1B9}" srcOrd="0" destOrd="0" presId="urn:microsoft.com/office/officeart/2005/8/layout/process4"/>
    <dgm:cxn modelId="{5918B7FF-F259-41DE-A896-059715FF1A1F}" type="presParOf" srcId="{8B2E8BCB-F749-4B9E-8E04-AEA02DC52D5D}" destId="{B1B044BD-0682-4C14-AE92-9532DC8A5656}" srcOrd="1" destOrd="0" presId="urn:microsoft.com/office/officeart/2005/8/layout/process4"/>
    <dgm:cxn modelId="{B9AD6D87-EA00-4EAC-A907-7D80DC410D33}" type="presParOf" srcId="{8B2E8BCB-F749-4B9E-8E04-AEA02DC52D5D}" destId="{4EF6A07A-6A09-4325-B41E-2B8B9C3DA3A0}" srcOrd="2" destOrd="0" presId="urn:microsoft.com/office/officeart/2005/8/layout/process4"/>
    <dgm:cxn modelId="{7E27ED8B-B22C-4B96-B806-45D67A60315A}" type="presParOf" srcId="{4EF6A07A-6A09-4325-B41E-2B8B9C3DA3A0}" destId="{67679BB8-0B02-4372-95CA-BADE43C2C3A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6171C9-6D72-4EB8-A309-B9ED54EE58AD}" type="doc">
      <dgm:prSet loTypeId="urn:microsoft.com/office/officeart/2005/8/layout/radial4" loCatId="relationship" qsTypeId="urn:microsoft.com/office/officeart/2005/8/quickstyle/simple5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5FBC238A-DAC1-4B79-A4CC-05DD024361EA}">
      <dgm:prSet phldrT="[Text]" custT="1"/>
      <dgm:spPr/>
      <dgm:t>
        <a:bodyPr/>
        <a:lstStyle/>
        <a:p>
          <a:r>
            <a:rPr lang="en-US" sz="2400" dirty="0"/>
            <a:t>Gradient</a:t>
          </a:r>
        </a:p>
        <a:p>
          <a:r>
            <a:rPr lang="en-US" sz="2400" dirty="0"/>
            <a:t>Boosting</a:t>
          </a:r>
        </a:p>
      </dgm:t>
    </dgm:pt>
    <dgm:pt modelId="{4DAD6430-D6C8-4A98-A8C3-A41BBDF11670}" type="parTrans" cxnId="{940E972A-4354-4500-8A39-EC0F1CDC8F49}">
      <dgm:prSet/>
      <dgm:spPr/>
      <dgm:t>
        <a:bodyPr/>
        <a:lstStyle/>
        <a:p>
          <a:endParaRPr lang="en-US"/>
        </a:p>
      </dgm:t>
    </dgm:pt>
    <dgm:pt modelId="{AD67472F-8766-4CD2-95A8-72CB10BAC93C}" type="sibTrans" cxnId="{940E972A-4354-4500-8A39-EC0F1CDC8F49}">
      <dgm:prSet/>
      <dgm:spPr/>
      <dgm:t>
        <a:bodyPr/>
        <a:lstStyle/>
        <a:p>
          <a:endParaRPr lang="en-US"/>
        </a:p>
      </dgm:t>
    </dgm:pt>
    <dgm:pt modelId="{83BE442C-4BEC-4CBB-AA8D-E751F3CE31ED}">
      <dgm:prSet phldrT="[Text]"/>
      <dgm:spPr/>
      <dgm:t>
        <a:bodyPr/>
        <a:lstStyle/>
        <a:p>
          <a:r>
            <a:rPr lang="en-US" baseline="0"/>
            <a:t>learning_rate = 0.3</a:t>
          </a:r>
        </a:p>
      </dgm:t>
    </dgm:pt>
    <dgm:pt modelId="{73DE173F-B2E0-4034-98C1-30B60F3BF389}" type="parTrans" cxnId="{1F16172D-B485-44B3-994B-04E6D885CA66}">
      <dgm:prSet/>
      <dgm:spPr/>
      <dgm:t>
        <a:bodyPr/>
        <a:lstStyle/>
        <a:p>
          <a:endParaRPr lang="en-US"/>
        </a:p>
      </dgm:t>
    </dgm:pt>
    <dgm:pt modelId="{717E9CA0-A333-41AF-BC06-D0DBD2839CC7}" type="sibTrans" cxnId="{1F16172D-B485-44B3-994B-04E6D885CA66}">
      <dgm:prSet/>
      <dgm:spPr/>
      <dgm:t>
        <a:bodyPr/>
        <a:lstStyle/>
        <a:p>
          <a:endParaRPr lang="en-US"/>
        </a:p>
      </dgm:t>
    </dgm:pt>
    <dgm:pt modelId="{1266C64E-AC9D-40B5-AD0F-3B1F3371E6D3}">
      <dgm:prSet phldrT="[Text]"/>
      <dgm:spPr/>
      <dgm:t>
        <a:bodyPr/>
        <a:lstStyle/>
        <a:p>
          <a:r>
            <a:rPr lang="en-US" baseline="0"/>
            <a:t>max_depth = 4</a:t>
          </a:r>
        </a:p>
      </dgm:t>
    </dgm:pt>
    <dgm:pt modelId="{538F4A3A-5D13-41C0-B769-C4403D686663}" type="parTrans" cxnId="{FFC61D6E-3C4E-4E52-906F-95580B87CC9F}">
      <dgm:prSet/>
      <dgm:spPr/>
      <dgm:t>
        <a:bodyPr/>
        <a:lstStyle/>
        <a:p>
          <a:endParaRPr lang="en-US"/>
        </a:p>
      </dgm:t>
    </dgm:pt>
    <dgm:pt modelId="{376F40A9-21DD-4F83-BDA6-D4AC97208C5F}" type="sibTrans" cxnId="{FFC61D6E-3C4E-4E52-906F-95580B87CC9F}">
      <dgm:prSet/>
      <dgm:spPr/>
      <dgm:t>
        <a:bodyPr/>
        <a:lstStyle/>
        <a:p>
          <a:endParaRPr lang="en-US"/>
        </a:p>
      </dgm:t>
    </dgm:pt>
    <dgm:pt modelId="{EC34FDF1-6557-485F-9781-9137779A54F7}">
      <dgm:prSet phldrT="[Text]"/>
      <dgm:spPr/>
      <dgm:t>
        <a:bodyPr/>
        <a:lstStyle/>
        <a:p>
          <a:r>
            <a:rPr lang="en-US" baseline="0"/>
            <a:t>min_samples_leaf = 2</a:t>
          </a:r>
        </a:p>
      </dgm:t>
    </dgm:pt>
    <dgm:pt modelId="{21C868F0-79A5-406D-AF57-1DAE0D4186CD}" type="parTrans" cxnId="{3A3C7F87-DFD7-4B9B-900A-2DCB7282E73C}">
      <dgm:prSet/>
      <dgm:spPr/>
      <dgm:t>
        <a:bodyPr/>
        <a:lstStyle/>
        <a:p>
          <a:endParaRPr lang="en-US"/>
        </a:p>
      </dgm:t>
    </dgm:pt>
    <dgm:pt modelId="{5146A484-D474-458F-84B1-1E82CFFF3640}" type="sibTrans" cxnId="{3A3C7F87-DFD7-4B9B-900A-2DCB7282E73C}">
      <dgm:prSet/>
      <dgm:spPr/>
      <dgm:t>
        <a:bodyPr/>
        <a:lstStyle/>
        <a:p>
          <a:endParaRPr lang="en-US"/>
        </a:p>
      </dgm:t>
    </dgm:pt>
    <dgm:pt modelId="{661E125C-BB96-40A4-9E60-E1D1D6E0D11C}">
      <dgm:prSet phldrT="[Text]"/>
      <dgm:spPr/>
      <dgm:t>
        <a:bodyPr/>
        <a:lstStyle/>
        <a:p>
          <a:r>
            <a:rPr lang="en-US" baseline="0"/>
            <a:t>n_estimators = 50</a:t>
          </a:r>
        </a:p>
      </dgm:t>
    </dgm:pt>
    <dgm:pt modelId="{CC7872A6-173F-418F-94D7-6681CD964767}" type="sibTrans" cxnId="{58422693-C13C-442E-9069-EE2ECA581811}">
      <dgm:prSet/>
      <dgm:spPr/>
      <dgm:t>
        <a:bodyPr/>
        <a:lstStyle/>
        <a:p>
          <a:endParaRPr lang="en-US"/>
        </a:p>
      </dgm:t>
    </dgm:pt>
    <dgm:pt modelId="{823FEC5B-A745-46DD-BB31-54EF58D3C771}" type="parTrans" cxnId="{58422693-C13C-442E-9069-EE2ECA581811}">
      <dgm:prSet/>
      <dgm:spPr/>
      <dgm:t>
        <a:bodyPr/>
        <a:lstStyle/>
        <a:p>
          <a:endParaRPr lang="en-US"/>
        </a:p>
      </dgm:t>
    </dgm:pt>
    <dgm:pt modelId="{A7A80CA1-B7B4-40AA-ADF9-80287E1E8BA5}" type="pres">
      <dgm:prSet presAssocID="{716171C9-6D72-4EB8-A309-B9ED54EE58AD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5A3CF8CA-ECEF-4A14-982E-0FB31A141D56}" type="pres">
      <dgm:prSet presAssocID="{5FBC238A-DAC1-4B79-A4CC-05DD024361EA}" presName="centerShape" presStyleLbl="node0" presStyleIdx="0" presStyleCnt="1"/>
      <dgm:spPr/>
    </dgm:pt>
    <dgm:pt modelId="{7A2D814F-7314-4378-8C6F-631DB0276E7F}" type="pres">
      <dgm:prSet presAssocID="{73DE173F-B2E0-4034-98C1-30B60F3BF389}" presName="parTrans" presStyleLbl="bgSibTrans2D1" presStyleIdx="0" presStyleCnt="4"/>
      <dgm:spPr/>
    </dgm:pt>
    <dgm:pt modelId="{EA4A605B-1481-4342-8163-B25812DDF370}" type="pres">
      <dgm:prSet presAssocID="{83BE442C-4BEC-4CBB-AA8D-E751F3CE31ED}" presName="node" presStyleLbl="node1" presStyleIdx="0" presStyleCnt="4">
        <dgm:presLayoutVars>
          <dgm:bulletEnabled val="1"/>
        </dgm:presLayoutVars>
      </dgm:prSet>
      <dgm:spPr/>
    </dgm:pt>
    <dgm:pt modelId="{8E2417AD-7D70-4DD5-B676-06086C4C8785}" type="pres">
      <dgm:prSet presAssocID="{538F4A3A-5D13-41C0-B769-C4403D686663}" presName="parTrans" presStyleLbl="bgSibTrans2D1" presStyleIdx="1" presStyleCnt="4"/>
      <dgm:spPr/>
    </dgm:pt>
    <dgm:pt modelId="{834E05D1-7CBB-4875-BAD7-23BC0ED207EB}" type="pres">
      <dgm:prSet presAssocID="{1266C64E-AC9D-40B5-AD0F-3B1F3371E6D3}" presName="node" presStyleLbl="node1" presStyleIdx="1" presStyleCnt="4">
        <dgm:presLayoutVars>
          <dgm:bulletEnabled val="1"/>
        </dgm:presLayoutVars>
      </dgm:prSet>
      <dgm:spPr/>
    </dgm:pt>
    <dgm:pt modelId="{43BECE5C-D4CE-45AF-8F9C-921AFCF97C21}" type="pres">
      <dgm:prSet presAssocID="{21C868F0-79A5-406D-AF57-1DAE0D4186CD}" presName="parTrans" presStyleLbl="bgSibTrans2D1" presStyleIdx="2" presStyleCnt="4"/>
      <dgm:spPr/>
    </dgm:pt>
    <dgm:pt modelId="{84FE5F91-9080-4E66-BF7E-7821DE35E6EB}" type="pres">
      <dgm:prSet presAssocID="{EC34FDF1-6557-485F-9781-9137779A54F7}" presName="node" presStyleLbl="node1" presStyleIdx="2" presStyleCnt="4">
        <dgm:presLayoutVars>
          <dgm:bulletEnabled val="1"/>
        </dgm:presLayoutVars>
      </dgm:prSet>
      <dgm:spPr/>
    </dgm:pt>
    <dgm:pt modelId="{5195713A-FBAA-4176-94A9-B10283EF61D0}" type="pres">
      <dgm:prSet presAssocID="{823FEC5B-A745-46DD-BB31-54EF58D3C771}" presName="parTrans" presStyleLbl="bgSibTrans2D1" presStyleIdx="3" presStyleCnt="4"/>
      <dgm:spPr/>
    </dgm:pt>
    <dgm:pt modelId="{24BA80F5-252E-4DFE-B07B-7FFB56EB3F36}" type="pres">
      <dgm:prSet presAssocID="{661E125C-BB96-40A4-9E60-E1D1D6E0D11C}" presName="node" presStyleLbl="node1" presStyleIdx="3" presStyleCnt="4">
        <dgm:presLayoutVars>
          <dgm:bulletEnabled val="1"/>
        </dgm:presLayoutVars>
      </dgm:prSet>
      <dgm:spPr/>
    </dgm:pt>
  </dgm:ptLst>
  <dgm:cxnLst>
    <dgm:cxn modelId="{70FEEF1C-CBE1-4A26-91A1-CB186C56B83E}" type="presOf" srcId="{823FEC5B-A745-46DD-BB31-54EF58D3C771}" destId="{5195713A-FBAA-4176-94A9-B10283EF61D0}" srcOrd="0" destOrd="0" presId="urn:microsoft.com/office/officeart/2005/8/layout/radial4"/>
    <dgm:cxn modelId="{940E972A-4354-4500-8A39-EC0F1CDC8F49}" srcId="{716171C9-6D72-4EB8-A309-B9ED54EE58AD}" destId="{5FBC238A-DAC1-4B79-A4CC-05DD024361EA}" srcOrd="0" destOrd="0" parTransId="{4DAD6430-D6C8-4A98-A8C3-A41BBDF11670}" sibTransId="{AD67472F-8766-4CD2-95A8-72CB10BAC93C}"/>
    <dgm:cxn modelId="{1F16172D-B485-44B3-994B-04E6D885CA66}" srcId="{5FBC238A-DAC1-4B79-A4CC-05DD024361EA}" destId="{83BE442C-4BEC-4CBB-AA8D-E751F3CE31ED}" srcOrd="0" destOrd="0" parTransId="{73DE173F-B2E0-4034-98C1-30B60F3BF389}" sibTransId="{717E9CA0-A333-41AF-BC06-D0DBD2839CC7}"/>
    <dgm:cxn modelId="{A2524A69-2B14-4A1A-AED0-3D746D8640A8}" type="presOf" srcId="{661E125C-BB96-40A4-9E60-E1D1D6E0D11C}" destId="{24BA80F5-252E-4DFE-B07B-7FFB56EB3F36}" srcOrd="0" destOrd="0" presId="urn:microsoft.com/office/officeart/2005/8/layout/radial4"/>
    <dgm:cxn modelId="{FFC61D6E-3C4E-4E52-906F-95580B87CC9F}" srcId="{5FBC238A-DAC1-4B79-A4CC-05DD024361EA}" destId="{1266C64E-AC9D-40B5-AD0F-3B1F3371E6D3}" srcOrd="1" destOrd="0" parTransId="{538F4A3A-5D13-41C0-B769-C4403D686663}" sibTransId="{376F40A9-21DD-4F83-BDA6-D4AC97208C5F}"/>
    <dgm:cxn modelId="{EC346D70-76C7-4FAC-984F-9296F10BEE42}" type="presOf" srcId="{83BE442C-4BEC-4CBB-AA8D-E751F3CE31ED}" destId="{EA4A605B-1481-4342-8163-B25812DDF370}" srcOrd="0" destOrd="0" presId="urn:microsoft.com/office/officeart/2005/8/layout/radial4"/>
    <dgm:cxn modelId="{0D93C472-A57A-4F83-A834-20503348DEEE}" type="presOf" srcId="{21C868F0-79A5-406D-AF57-1DAE0D4186CD}" destId="{43BECE5C-D4CE-45AF-8F9C-921AFCF97C21}" srcOrd="0" destOrd="0" presId="urn:microsoft.com/office/officeart/2005/8/layout/radial4"/>
    <dgm:cxn modelId="{456B0D7C-80DD-4927-83D4-3D316203DA91}" type="presOf" srcId="{5FBC238A-DAC1-4B79-A4CC-05DD024361EA}" destId="{5A3CF8CA-ECEF-4A14-982E-0FB31A141D56}" srcOrd="0" destOrd="0" presId="urn:microsoft.com/office/officeart/2005/8/layout/radial4"/>
    <dgm:cxn modelId="{3A3C7F87-DFD7-4B9B-900A-2DCB7282E73C}" srcId="{5FBC238A-DAC1-4B79-A4CC-05DD024361EA}" destId="{EC34FDF1-6557-485F-9781-9137779A54F7}" srcOrd="2" destOrd="0" parTransId="{21C868F0-79A5-406D-AF57-1DAE0D4186CD}" sibTransId="{5146A484-D474-458F-84B1-1E82CFFF3640}"/>
    <dgm:cxn modelId="{58422693-C13C-442E-9069-EE2ECA581811}" srcId="{5FBC238A-DAC1-4B79-A4CC-05DD024361EA}" destId="{661E125C-BB96-40A4-9E60-E1D1D6E0D11C}" srcOrd="3" destOrd="0" parTransId="{823FEC5B-A745-46DD-BB31-54EF58D3C771}" sibTransId="{CC7872A6-173F-418F-94D7-6681CD964767}"/>
    <dgm:cxn modelId="{5EBD289A-B853-4556-BC04-1E4056FDCC07}" type="presOf" srcId="{716171C9-6D72-4EB8-A309-B9ED54EE58AD}" destId="{A7A80CA1-B7B4-40AA-ADF9-80287E1E8BA5}" srcOrd="0" destOrd="0" presId="urn:microsoft.com/office/officeart/2005/8/layout/radial4"/>
    <dgm:cxn modelId="{3BC3F4A1-2781-41D1-9E59-49232FB73C4A}" type="presOf" srcId="{73DE173F-B2E0-4034-98C1-30B60F3BF389}" destId="{7A2D814F-7314-4378-8C6F-631DB0276E7F}" srcOrd="0" destOrd="0" presId="urn:microsoft.com/office/officeart/2005/8/layout/radial4"/>
    <dgm:cxn modelId="{AC51ECDE-BE7D-4C1E-AE2C-0E13A7A0A7AE}" type="presOf" srcId="{1266C64E-AC9D-40B5-AD0F-3B1F3371E6D3}" destId="{834E05D1-7CBB-4875-BAD7-23BC0ED207EB}" srcOrd="0" destOrd="0" presId="urn:microsoft.com/office/officeart/2005/8/layout/radial4"/>
    <dgm:cxn modelId="{2D2386E2-83EB-4F53-BFA2-17FFFFFB2B13}" type="presOf" srcId="{538F4A3A-5D13-41C0-B769-C4403D686663}" destId="{8E2417AD-7D70-4DD5-B676-06086C4C8785}" srcOrd="0" destOrd="0" presId="urn:microsoft.com/office/officeart/2005/8/layout/radial4"/>
    <dgm:cxn modelId="{313096E7-7137-4F44-A64A-6555061A6100}" type="presOf" srcId="{EC34FDF1-6557-485F-9781-9137779A54F7}" destId="{84FE5F91-9080-4E66-BF7E-7821DE35E6EB}" srcOrd="0" destOrd="0" presId="urn:microsoft.com/office/officeart/2005/8/layout/radial4"/>
    <dgm:cxn modelId="{1F18EF41-5081-41F8-AE9B-9838E838EE0C}" type="presParOf" srcId="{A7A80CA1-B7B4-40AA-ADF9-80287E1E8BA5}" destId="{5A3CF8CA-ECEF-4A14-982E-0FB31A141D56}" srcOrd="0" destOrd="0" presId="urn:microsoft.com/office/officeart/2005/8/layout/radial4"/>
    <dgm:cxn modelId="{693C544E-2D96-4C65-A5AA-D409D871F27A}" type="presParOf" srcId="{A7A80CA1-B7B4-40AA-ADF9-80287E1E8BA5}" destId="{7A2D814F-7314-4378-8C6F-631DB0276E7F}" srcOrd="1" destOrd="0" presId="urn:microsoft.com/office/officeart/2005/8/layout/radial4"/>
    <dgm:cxn modelId="{5B28A3C0-C2D0-497D-B468-326B10BC556A}" type="presParOf" srcId="{A7A80CA1-B7B4-40AA-ADF9-80287E1E8BA5}" destId="{EA4A605B-1481-4342-8163-B25812DDF370}" srcOrd="2" destOrd="0" presId="urn:microsoft.com/office/officeart/2005/8/layout/radial4"/>
    <dgm:cxn modelId="{3128F833-09FD-4400-8A7F-F20D21AFFF9D}" type="presParOf" srcId="{A7A80CA1-B7B4-40AA-ADF9-80287E1E8BA5}" destId="{8E2417AD-7D70-4DD5-B676-06086C4C8785}" srcOrd="3" destOrd="0" presId="urn:microsoft.com/office/officeart/2005/8/layout/radial4"/>
    <dgm:cxn modelId="{0EE81C13-7F53-4040-93F4-50709537043A}" type="presParOf" srcId="{A7A80CA1-B7B4-40AA-ADF9-80287E1E8BA5}" destId="{834E05D1-7CBB-4875-BAD7-23BC0ED207EB}" srcOrd="4" destOrd="0" presId="urn:microsoft.com/office/officeart/2005/8/layout/radial4"/>
    <dgm:cxn modelId="{69FA876C-983C-42FB-B1D3-E44164C0AA69}" type="presParOf" srcId="{A7A80CA1-B7B4-40AA-ADF9-80287E1E8BA5}" destId="{43BECE5C-D4CE-45AF-8F9C-921AFCF97C21}" srcOrd="5" destOrd="0" presId="urn:microsoft.com/office/officeart/2005/8/layout/radial4"/>
    <dgm:cxn modelId="{B882C607-97D0-4B98-AE8D-1B4A707C719F}" type="presParOf" srcId="{A7A80CA1-B7B4-40AA-ADF9-80287E1E8BA5}" destId="{84FE5F91-9080-4E66-BF7E-7821DE35E6EB}" srcOrd="6" destOrd="0" presId="urn:microsoft.com/office/officeart/2005/8/layout/radial4"/>
    <dgm:cxn modelId="{5A94BD19-D4A7-4622-9364-3A33F5235465}" type="presParOf" srcId="{A7A80CA1-B7B4-40AA-ADF9-80287E1E8BA5}" destId="{5195713A-FBAA-4176-94A9-B10283EF61D0}" srcOrd="7" destOrd="0" presId="urn:microsoft.com/office/officeart/2005/8/layout/radial4"/>
    <dgm:cxn modelId="{B8B3DF78-BBEE-480B-915F-25DC35901222}" type="presParOf" srcId="{A7A80CA1-B7B4-40AA-ADF9-80287E1E8BA5}" destId="{24BA80F5-252E-4DFE-B07B-7FFB56EB3F36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5F35E9-76DD-4149-8473-02B3B2B394A6}">
      <dsp:nvSpPr>
        <dsp:cNvPr id="0" name=""/>
        <dsp:cNvSpPr/>
      </dsp:nvSpPr>
      <dsp:spPr>
        <a:xfrm>
          <a:off x="0" y="2306107"/>
          <a:ext cx="7990113" cy="15130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 err="1"/>
            <a:t>min_df</a:t>
          </a:r>
          <a:endParaRPr lang="en-US" sz="4400" kern="1200" dirty="0"/>
        </a:p>
      </dsp:txBody>
      <dsp:txXfrm>
        <a:off x="0" y="2306107"/>
        <a:ext cx="7990113" cy="817050"/>
      </dsp:txXfrm>
    </dsp:sp>
    <dsp:sp modelId="{FAD703D1-B02F-4C02-A849-209DAA94C3C6}">
      <dsp:nvSpPr>
        <dsp:cNvPr id="0" name=""/>
        <dsp:cNvSpPr/>
      </dsp:nvSpPr>
      <dsp:spPr>
        <a:xfrm>
          <a:off x="0" y="3092896"/>
          <a:ext cx="7990113" cy="6960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35560" rIns="199136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Least </a:t>
          </a:r>
          <a:r>
            <a:rPr lang="en-US" sz="2800" kern="1200" dirty="0" err="1"/>
            <a:t>min_df</a:t>
          </a:r>
          <a:r>
            <a:rPr lang="en-US" sz="2800" kern="1200" dirty="0"/>
            <a:t>  More Accurate Score</a:t>
          </a:r>
        </a:p>
      </dsp:txBody>
      <dsp:txXfrm>
        <a:off x="0" y="3092896"/>
        <a:ext cx="7990113" cy="696005"/>
      </dsp:txXfrm>
    </dsp:sp>
    <dsp:sp modelId="{B1B044BD-0682-4C14-AE92-9532DC8A5656}">
      <dsp:nvSpPr>
        <dsp:cNvPr id="0" name=""/>
        <dsp:cNvSpPr/>
      </dsp:nvSpPr>
      <dsp:spPr>
        <a:xfrm rot="10800000">
          <a:off x="0" y="0"/>
          <a:ext cx="7990113" cy="232708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76" tIns="341376" rIns="341376" bIns="341376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0" kern="1200" dirty="0" err="1"/>
            <a:t>ngrams</a:t>
          </a:r>
          <a:endParaRPr lang="en-US" sz="2800" b="0" kern="1200" dirty="0"/>
        </a:p>
      </dsp:txBody>
      <dsp:txXfrm rot="-10800000">
        <a:off x="0" y="0"/>
        <a:ext cx="7990113" cy="816805"/>
      </dsp:txXfrm>
    </dsp:sp>
    <dsp:sp modelId="{67679BB8-0B02-4372-95CA-BADE43C2C3AD}">
      <dsp:nvSpPr>
        <dsp:cNvPr id="0" name=""/>
        <dsp:cNvSpPr/>
      </dsp:nvSpPr>
      <dsp:spPr>
        <a:xfrm>
          <a:off x="0" y="818528"/>
          <a:ext cx="7990113" cy="6957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35560" rIns="199136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(1,2) better than (1,1)</a:t>
          </a:r>
        </a:p>
      </dsp:txBody>
      <dsp:txXfrm>
        <a:off x="0" y="818528"/>
        <a:ext cx="7990113" cy="6957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3CF8CA-ECEF-4A14-982E-0FB31A141D56}">
      <dsp:nvSpPr>
        <dsp:cNvPr id="0" name=""/>
        <dsp:cNvSpPr/>
      </dsp:nvSpPr>
      <dsp:spPr>
        <a:xfrm>
          <a:off x="4195868" y="2226292"/>
          <a:ext cx="2123863" cy="2123863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Gradient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Boosting</a:t>
          </a:r>
        </a:p>
      </dsp:txBody>
      <dsp:txXfrm>
        <a:off x="4506901" y="2537325"/>
        <a:ext cx="1501797" cy="1501797"/>
      </dsp:txXfrm>
    </dsp:sp>
    <dsp:sp modelId="{7A2D814F-7314-4378-8C6F-631DB0276E7F}">
      <dsp:nvSpPr>
        <dsp:cNvPr id="0" name=""/>
        <dsp:cNvSpPr/>
      </dsp:nvSpPr>
      <dsp:spPr>
        <a:xfrm rot="11700000">
          <a:off x="2587732" y="2482122"/>
          <a:ext cx="1582323" cy="605301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A4A605B-1481-4342-8163-B25812DDF370}">
      <dsp:nvSpPr>
        <dsp:cNvPr id="0" name=""/>
        <dsp:cNvSpPr/>
      </dsp:nvSpPr>
      <dsp:spPr>
        <a:xfrm>
          <a:off x="1605855" y="1772936"/>
          <a:ext cx="2017670" cy="1614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learning_rate = 0.3</a:t>
          </a:r>
        </a:p>
      </dsp:txBody>
      <dsp:txXfrm>
        <a:off x="1653131" y="1820212"/>
        <a:ext cx="1923118" cy="1519584"/>
      </dsp:txXfrm>
    </dsp:sp>
    <dsp:sp modelId="{8E2417AD-7D70-4DD5-B676-06086C4C8785}">
      <dsp:nvSpPr>
        <dsp:cNvPr id="0" name=""/>
        <dsp:cNvSpPr/>
      </dsp:nvSpPr>
      <dsp:spPr>
        <a:xfrm rot="14700000">
          <a:off x="3644567" y="1222635"/>
          <a:ext cx="1582323" cy="605301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34E05D1-7CBB-4875-BAD7-23BC0ED207EB}">
      <dsp:nvSpPr>
        <dsp:cNvPr id="0" name=""/>
        <dsp:cNvSpPr/>
      </dsp:nvSpPr>
      <dsp:spPr>
        <a:xfrm>
          <a:off x="3092534" y="1182"/>
          <a:ext cx="2017670" cy="1614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max_depth = 4</a:t>
          </a:r>
        </a:p>
      </dsp:txBody>
      <dsp:txXfrm>
        <a:off x="3139810" y="48458"/>
        <a:ext cx="1923118" cy="1519584"/>
      </dsp:txXfrm>
    </dsp:sp>
    <dsp:sp modelId="{43BECE5C-D4CE-45AF-8F9C-921AFCF97C21}">
      <dsp:nvSpPr>
        <dsp:cNvPr id="0" name=""/>
        <dsp:cNvSpPr/>
      </dsp:nvSpPr>
      <dsp:spPr>
        <a:xfrm rot="17700000">
          <a:off x="5288709" y="1222635"/>
          <a:ext cx="1582323" cy="605301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4FE5F91-9080-4E66-BF7E-7821DE35E6EB}">
      <dsp:nvSpPr>
        <dsp:cNvPr id="0" name=""/>
        <dsp:cNvSpPr/>
      </dsp:nvSpPr>
      <dsp:spPr>
        <a:xfrm>
          <a:off x="5405395" y="1182"/>
          <a:ext cx="2017670" cy="1614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min_samples_leaf = 2</a:t>
          </a:r>
        </a:p>
      </dsp:txBody>
      <dsp:txXfrm>
        <a:off x="5452671" y="48458"/>
        <a:ext cx="1923118" cy="1519584"/>
      </dsp:txXfrm>
    </dsp:sp>
    <dsp:sp modelId="{5195713A-FBAA-4176-94A9-B10283EF61D0}">
      <dsp:nvSpPr>
        <dsp:cNvPr id="0" name=""/>
        <dsp:cNvSpPr/>
      </dsp:nvSpPr>
      <dsp:spPr>
        <a:xfrm rot="20700000">
          <a:off x="6345544" y="2482122"/>
          <a:ext cx="1582323" cy="605301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4BA80F5-252E-4DFE-B07B-7FFB56EB3F36}">
      <dsp:nvSpPr>
        <dsp:cNvPr id="0" name=""/>
        <dsp:cNvSpPr/>
      </dsp:nvSpPr>
      <dsp:spPr>
        <a:xfrm>
          <a:off x="6892074" y="1772936"/>
          <a:ext cx="2017670" cy="1614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n_estimators = 50</a:t>
          </a:r>
        </a:p>
      </dsp:txBody>
      <dsp:txXfrm>
        <a:off x="6939350" y="1820212"/>
        <a:ext cx="1923118" cy="15195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11DAC-B70D-41E5-84A7-D4F4A362EE1A}" type="datetimeFigureOut">
              <a:rPr lang="en-AE" smtClean="0"/>
              <a:t>21/11/2024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1E2AC-12DC-414A-A169-D1AADB6F7D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26430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F1C75-CF8B-4EFB-8062-168F22DF20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02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F1C75-CF8B-4EFB-8062-168F22DF20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60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F1C75-CF8B-4EFB-8062-168F22DF20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95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142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0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02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35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30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061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4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68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12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79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54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313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The Coca-Cola and Pepsi Duopoly: The Secret Ingredients">
            <a:extLst>
              <a:ext uri="{FF2B5EF4-FFF2-40B4-BE49-F238E27FC236}">
                <a16:creationId xmlns:a16="http://schemas.microsoft.com/office/drawing/2014/main" id="{5A5CC4EB-7EE2-F9E1-95B9-D39A84DD7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6" r="4790"/>
          <a:stretch/>
        </p:blipFill>
        <p:spPr bwMode="auto">
          <a:xfrm>
            <a:off x="20" y="10"/>
            <a:ext cx="121919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Rectangle 1043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85CC1-5EF9-AEB8-98CE-D19A1D41E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r>
              <a:rPr lang="en-GB" sz="6600" b="1" i="0" dirty="0">
                <a:solidFill>
                  <a:schemeClr val="bg1"/>
                </a:solidFill>
                <a:effectLst/>
                <a:latin typeface="system-ui"/>
              </a:rPr>
              <a:t>Understanding </a:t>
            </a:r>
            <a:br>
              <a:rPr lang="en-GB" sz="6600" b="1" i="0" dirty="0">
                <a:solidFill>
                  <a:schemeClr val="bg1"/>
                </a:solidFill>
                <a:effectLst/>
                <a:latin typeface="system-ui"/>
              </a:rPr>
            </a:br>
            <a:r>
              <a:rPr lang="en-GB" sz="6600" b="1" i="0" dirty="0">
                <a:ln>
                  <a:solidFill>
                    <a:schemeClr val="bg1"/>
                  </a:solidFill>
                </a:ln>
                <a:solidFill>
                  <a:srgbClr val="050E8B"/>
                </a:solidFill>
                <a:effectLst/>
                <a:latin typeface="system-ui"/>
              </a:rPr>
              <a:t>Pepsi</a:t>
            </a:r>
            <a:r>
              <a:rPr lang="en-GB" sz="6600" b="1" i="0" dirty="0">
                <a:solidFill>
                  <a:schemeClr val="bg1"/>
                </a:solidFill>
                <a:effectLst/>
                <a:latin typeface="system-ui"/>
              </a:rPr>
              <a:t> and </a:t>
            </a:r>
            <a:r>
              <a:rPr lang="en-GB" sz="6600" b="1" i="0" dirty="0">
                <a:ln>
                  <a:solidFill>
                    <a:schemeClr val="bg1"/>
                  </a:solidFill>
                </a:ln>
                <a:solidFill>
                  <a:srgbClr val="D41515"/>
                </a:solidFill>
                <a:effectLst/>
                <a:latin typeface="system-ui"/>
              </a:rPr>
              <a:t>Coca-Cola</a:t>
            </a:r>
            <a:endParaRPr lang="en-AE" sz="6600" dirty="0">
              <a:ln>
                <a:solidFill>
                  <a:schemeClr val="bg1"/>
                </a:solidFill>
              </a:ln>
              <a:solidFill>
                <a:srgbClr val="D41515"/>
              </a:solidFill>
            </a:endParaRPr>
          </a:p>
        </p:txBody>
      </p:sp>
      <p:sp>
        <p:nvSpPr>
          <p:cNvPr id="1046" name="Rectangle: Rounded Corners 1045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0135C-DC84-BEC7-8D93-7F49E9C7B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 fontScale="92500"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Trends, Sentiment, and Brand Fit                 </a:t>
            </a:r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2024-11-21</a:t>
            </a:r>
            <a:endParaRPr lang="en-AE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7" name="Picture 4" descr="Reddit - Wikipedia">
            <a:extLst>
              <a:ext uri="{FF2B5EF4-FFF2-40B4-BE49-F238E27FC236}">
                <a16:creationId xmlns:a16="http://schemas.microsoft.com/office/drawing/2014/main" id="{49FC1C10-C03F-DB1A-7E0D-1DB18C40F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0680" y="4537609"/>
            <a:ext cx="880537" cy="880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682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418FA2-0832-6F34-E1EF-642151058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371A6DF-FFFB-DABA-D75F-59791C00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BA5D3FE-B707-31EF-F632-ADD0B2721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39F4CE-D9A8-7F67-45C3-17213A7DB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28D9D36B-7CE3-50CE-99B2-DBC07FA93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6" descr="The Coca-Cola and Pepsi Duopoly: The Secret Ingredients">
            <a:extLst>
              <a:ext uri="{FF2B5EF4-FFF2-40B4-BE49-F238E27FC236}">
                <a16:creationId xmlns:a16="http://schemas.microsoft.com/office/drawing/2014/main" id="{19BECBAA-D8EC-3FCB-DDC3-FA4890A08C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3" r="18277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AE24CC89-8D4E-186C-8AC4-44FC4E051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667AFC-D8DF-5C6C-D479-0A3D12D3390C}"/>
              </a:ext>
            </a:extLst>
          </p:cNvPr>
          <p:cNvSpPr txBox="1"/>
          <p:nvPr/>
        </p:nvSpPr>
        <p:spPr>
          <a:xfrm>
            <a:off x="371094" y="1161288"/>
            <a:ext cx="3438144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050E8B"/>
                </a:solidFill>
                <a:effectLst/>
                <a:latin typeface="system-ui"/>
              </a:rPr>
              <a:t>Problem</a:t>
            </a:r>
            <a:r>
              <a:rPr lang="en-GB" sz="4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ystem-ui"/>
              </a:rPr>
              <a:t> </a:t>
            </a: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D41515"/>
                </a:solidFill>
                <a:effectLst/>
                <a:latin typeface="system-ui"/>
              </a:rPr>
              <a:t>Statements</a:t>
            </a:r>
            <a:endParaRPr lang="en-US" sz="4000" b="1" dirty="0">
              <a:latin typeface="+mj-lt"/>
              <a:ea typeface="+mj-ea"/>
              <a:cs typeface="+mj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335DD2-E6C5-8CC5-D561-F93C9B9EF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3172F3-9494-1177-9A97-106BA1D34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4962A4-F8DA-D284-7C5F-6E96D3548991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What People Are Talking About:</a:t>
            </a:r>
            <a:r>
              <a:rPr lang="en-US" dirty="0"/>
              <a:t> </a:t>
            </a:r>
          </a:p>
          <a:p>
            <a:pPr marL="114300">
              <a:spcAft>
                <a:spcPts val="600"/>
              </a:spcAft>
            </a:pPr>
            <a:r>
              <a:rPr lang="en-US" sz="1400" dirty="0"/>
              <a:t>Find the common words and sentiment in discussions about </a:t>
            </a:r>
            <a:r>
              <a:rPr lang="en-US" sz="1400" b="1" dirty="0">
                <a:solidFill>
                  <a:srgbClr val="004A97"/>
                </a:solidFill>
              </a:rPr>
              <a:t>Pepsi</a:t>
            </a:r>
            <a:r>
              <a:rPr lang="en-US" sz="1400" dirty="0"/>
              <a:t> and </a:t>
            </a:r>
            <a:r>
              <a:rPr lang="en-US" sz="1400" b="1" dirty="0">
                <a:solidFill>
                  <a:srgbClr val="D61F25"/>
                </a:solidFill>
              </a:rPr>
              <a:t>Coca-Cola</a:t>
            </a:r>
            <a:r>
              <a:rPr lang="en-US" sz="1400" dirty="0"/>
              <a:t> to see what people are interested in.</a:t>
            </a:r>
            <a:r>
              <a:rPr lang="en-US" sz="1400" b="1" dirty="0"/>
              <a:t> </a:t>
            </a: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Matching Brand Identity:</a:t>
            </a:r>
          </a:p>
          <a:p>
            <a:pPr marL="114300">
              <a:spcAft>
                <a:spcPts val="600"/>
              </a:spcAft>
            </a:pPr>
            <a:r>
              <a:rPr lang="en-US" sz="1400" dirty="0"/>
              <a:t>Use an NLP model to predict if a message is about </a:t>
            </a:r>
            <a:r>
              <a:rPr lang="en-US" sz="1400" b="1" dirty="0">
                <a:solidFill>
                  <a:srgbClr val="004A97"/>
                </a:solidFill>
              </a:rPr>
              <a:t>Pepsi</a:t>
            </a:r>
            <a:r>
              <a:rPr lang="en-US" sz="1400" dirty="0"/>
              <a:t> or </a:t>
            </a:r>
            <a:r>
              <a:rPr lang="en-US" sz="1400" b="1" dirty="0">
                <a:solidFill>
                  <a:srgbClr val="D61F25"/>
                </a:solidFill>
              </a:rPr>
              <a:t>Coca-Cola</a:t>
            </a:r>
            <a:r>
              <a:rPr lang="en-US" sz="1400" dirty="0"/>
              <a:t> and check if it matches each brand's mission.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80447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6" descr="The Coca-Cola and Pepsi Duopoly: The Secret Ingredients">
            <a:extLst>
              <a:ext uri="{FF2B5EF4-FFF2-40B4-BE49-F238E27FC236}">
                <a16:creationId xmlns:a16="http://schemas.microsoft.com/office/drawing/2014/main" id="{E9578439-BA63-A91F-285F-397EF70873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3" r="18277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4589A8-ADED-D66C-50FE-1F43A66226F1}"/>
              </a:ext>
            </a:extLst>
          </p:cNvPr>
          <p:cNvSpPr txBox="1"/>
          <p:nvPr/>
        </p:nvSpPr>
        <p:spPr>
          <a:xfrm>
            <a:off x="371094" y="1161288"/>
            <a:ext cx="3438144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050E8B"/>
                </a:solidFill>
                <a:effectLst/>
                <a:latin typeface="system-ui"/>
              </a:rPr>
              <a:t>Study</a:t>
            </a:r>
            <a:r>
              <a:rPr lang="en-GB" sz="4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ystem-ui"/>
              </a:rPr>
              <a:t> </a:t>
            </a: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D41515"/>
                </a:solidFill>
                <a:effectLst/>
                <a:latin typeface="system-ui"/>
              </a:rPr>
              <a:t>Process</a:t>
            </a:r>
            <a:endParaRPr lang="en-US" sz="4000" b="1" dirty="0">
              <a:latin typeface="+mj-lt"/>
              <a:ea typeface="+mj-ea"/>
              <a:cs typeface="+mj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0BC12E-1DFE-6BB8-A0A5-3F0930720820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Extract Subreddit Posts from </a:t>
            </a:r>
            <a:r>
              <a:rPr lang="en-US" b="1" dirty="0">
                <a:solidFill>
                  <a:srgbClr val="004A97"/>
                </a:solidFill>
              </a:rPr>
              <a:t>r/Pepsi </a:t>
            </a:r>
            <a:r>
              <a:rPr lang="en-US" b="1" dirty="0"/>
              <a:t>and </a:t>
            </a:r>
            <a:r>
              <a:rPr lang="en-US" b="1" dirty="0">
                <a:solidFill>
                  <a:srgbClr val="F40009"/>
                </a:solidFill>
              </a:rPr>
              <a:t>r/</a:t>
            </a:r>
            <a:r>
              <a:rPr lang="en-US" b="1" dirty="0" err="1">
                <a:solidFill>
                  <a:srgbClr val="F40009"/>
                </a:solidFill>
              </a:rPr>
              <a:t>cocacola</a:t>
            </a:r>
            <a:endParaRPr lang="en-US" b="1" dirty="0">
              <a:solidFill>
                <a:srgbClr val="F40009"/>
              </a:solidFill>
            </a:endParaRP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Preparing Data</a:t>
            </a: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Exploratory Data Analysis</a:t>
            </a: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Sentiment Analysis</a:t>
            </a: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Vectorizer and Tokenizer</a:t>
            </a: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Model Tuning</a:t>
            </a: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2723364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A32D94-B11E-19CF-94C5-D38DE309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3B55CE6-9AE2-7F9D-28A5-596A3900E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DAE085F-2511-5595-3E26-3CEBC7727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60E1A2-1C6C-6585-73B7-3D903E5AC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DFDCD7A2-B35A-FFD2-A404-DD29B753D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6C994E-CAFA-3D90-403B-077D92F45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476A09-97C9-87B9-5FF7-01CA50242AB7}"/>
              </a:ext>
            </a:extLst>
          </p:cNvPr>
          <p:cNvSpPr txBox="1"/>
          <p:nvPr/>
        </p:nvSpPr>
        <p:spPr>
          <a:xfrm>
            <a:off x="371094" y="1161288"/>
            <a:ext cx="3438144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050E8B"/>
                </a:solidFill>
                <a:effectLst/>
                <a:latin typeface="system-ui"/>
              </a:rPr>
              <a:t>Preparing</a:t>
            </a:r>
            <a:r>
              <a:rPr lang="en-GB" sz="4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ystem-ui"/>
              </a:rPr>
              <a:t> </a:t>
            </a: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D41515"/>
                </a:solidFill>
                <a:effectLst/>
                <a:latin typeface="system-ui"/>
              </a:rPr>
              <a:t>Data</a:t>
            </a:r>
            <a:endParaRPr lang="en-US" sz="4000" b="1" dirty="0">
              <a:latin typeface="+mj-lt"/>
              <a:ea typeface="+mj-ea"/>
              <a:cs typeface="+mj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CA7B59-0646-D084-2370-EAB346C64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9C2CA0-62A6-806E-C7A0-3E7D6CDA4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2AE4BB-E3B1-9960-7F82-FACE3067476E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Concatenate Title and Body</a:t>
            </a: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Create column </a:t>
            </a:r>
            <a:r>
              <a:rPr lang="en-US" sz="1600" b="1" dirty="0">
                <a:solidFill>
                  <a:srgbClr val="D61F25"/>
                </a:solidFill>
              </a:rPr>
              <a:t>is_</a:t>
            </a:r>
            <a:r>
              <a:rPr lang="en-US" sz="1600" b="1" dirty="0">
                <a:solidFill>
                  <a:srgbClr val="004A97"/>
                </a:solidFill>
              </a:rPr>
              <a:t>pepsi</a:t>
            </a: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Lower text and remove related words; </a:t>
            </a:r>
            <a:r>
              <a:rPr lang="en-US" sz="1600" b="1" dirty="0">
                <a:solidFill>
                  <a:srgbClr val="004A97"/>
                </a:solidFill>
              </a:rPr>
              <a:t>pepsi, pepsico,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D61F25"/>
                </a:solidFill>
              </a:rPr>
              <a:t>coca, cola, coke</a:t>
            </a:r>
          </a:p>
          <a:p>
            <a:pPr marL="571500" lvl="1">
              <a:spcAft>
                <a:spcPts val="600"/>
              </a:spcAft>
            </a:pPr>
            <a:endParaRPr lang="en-US" sz="1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883CC9-4924-6FFD-BBEC-F45B3544C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442" y="483955"/>
            <a:ext cx="6171336" cy="5890089"/>
          </a:xfrm>
          <a:prstGeom prst="rect">
            <a:avLst/>
          </a:prstGeom>
        </p:spPr>
      </p:pic>
      <p:pic>
        <p:nvPicPr>
          <p:cNvPr id="3" name="Picture 4" descr="Reddit - Wikipedia">
            <a:extLst>
              <a:ext uri="{FF2B5EF4-FFF2-40B4-BE49-F238E27FC236}">
                <a16:creationId xmlns:a16="http://schemas.microsoft.com/office/drawing/2014/main" id="{D56EEECA-EE93-234C-6682-4DE9ED021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004" y="4956102"/>
            <a:ext cx="880537" cy="880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6B81A6E-9A8A-75DD-0AA2-419868695A2A}"/>
              </a:ext>
            </a:extLst>
          </p:cNvPr>
          <p:cNvSpPr/>
          <p:nvPr/>
        </p:nvSpPr>
        <p:spPr>
          <a:xfrm>
            <a:off x="5145432" y="4674870"/>
            <a:ext cx="963168" cy="2868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077362-D49F-CC1C-4720-9595B7E1F7AF}"/>
              </a:ext>
            </a:extLst>
          </p:cNvPr>
          <p:cNvSpPr/>
          <p:nvPr/>
        </p:nvSpPr>
        <p:spPr>
          <a:xfrm>
            <a:off x="5145432" y="5588554"/>
            <a:ext cx="1219200" cy="2868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4CD9B4-63B2-FF2F-AC0B-831A49D284D6}"/>
              </a:ext>
            </a:extLst>
          </p:cNvPr>
          <p:cNvSpPr/>
          <p:nvPr/>
        </p:nvSpPr>
        <p:spPr>
          <a:xfrm>
            <a:off x="5130404" y="736663"/>
            <a:ext cx="1023916" cy="1068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E7ED98-16AA-8727-A3C8-C00CB857592E}"/>
              </a:ext>
            </a:extLst>
          </p:cNvPr>
          <p:cNvCxnSpPr>
            <a:cxnSpLocks/>
            <a:endCxn id="17" idx="3"/>
          </p:cNvCxnSpPr>
          <p:nvPr/>
        </p:nvCxnSpPr>
        <p:spPr>
          <a:xfrm>
            <a:off x="7362455" y="1161288"/>
            <a:ext cx="3626291" cy="21892"/>
          </a:xfrm>
          <a:prstGeom prst="straightConnector1">
            <a:avLst/>
          </a:prstGeom>
          <a:ln w="57150">
            <a:solidFill>
              <a:srgbClr val="FF45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DDDB5E-BB0C-7228-B4C1-802173E04BD5}"/>
              </a:ext>
            </a:extLst>
          </p:cNvPr>
          <p:cNvCxnSpPr>
            <a:cxnSpLocks/>
            <a:endCxn id="18" idx="3"/>
          </p:cNvCxnSpPr>
          <p:nvPr/>
        </p:nvCxnSpPr>
        <p:spPr>
          <a:xfrm>
            <a:off x="7362455" y="1461629"/>
            <a:ext cx="3533099" cy="21892"/>
          </a:xfrm>
          <a:prstGeom prst="straightConnector1">
            <a:avLst/>
          </a:prstGeom>
          <a:ln w="57150">
            <a:solidFill>
              <a:srgbClr val="FF45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88778BD-F1B6-3D8C-5B8B-B9A813CEEE16}"/>
              </a:ext>
            </a:extLst>
          </p:cNvPr>
          <p:cNvSpPr txBox="1"/>
          <p:nvPr/>
        </p:nvSpPr>
        <p:spPr>
          <a:xfrm flipH="1">
            <a:off x="10988746" y="998514"/>
            <a:ext cx="699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Title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09B77A-FE57-0CA7-4E88-49DBCCEFB705}"/>
              </a:ext>
            </a:extLst>
          </p:cNvPr>
          <p:cNvSpPr txBox="1"/>
          <p:nvPr/>
        </p:nvSpPr>
        <p:spPr>
          <a:xfrm flipH="1">
            <a:off x="10895554" y="1298855"/>
            <a:ext cx="79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Body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BD832C-837B-886E-61A5-224BDFEEBBB2}"/>
              </a:ext>
            </a:extLst>
          </p:cNvPr>
          <p:cNvSpPr txBox="1"/>
          <p:nvPr/>
        </p:nvSpPr>
        <p:spPr>
          <a:xfrm flipH="1">
            <a:off x="9372959" y="529103"/>
            <a:ext cx="1425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is_pepsi = 1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9F613-606A-839B-EE7A-425107FBACF6}"/>
              </a:ext>
            </a:extLst>
          </p:cNvPr>
          <p:cNvSpPr txBox="1"/>
          <p:nvPr/>
        </p:nvSpPr>
        <p:spPr>
          <a:xfrm>
            <a:off x="848087" y="2906974"/>
            <a:ext cx="8723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4A97"/>
                </a:solidFill>
              </a:rPr>
              <a:t>Pepsi</a:t>
            </a:r>
            <a:r>
              <a:rPr lang="en-US" dirty="0"/>
              <a:t> </a:t>
            </a:r>
            <a:endParaRPr lang="en-US" b="1" dirty="0"/>
          </a:p>
          <a:p>
            <a:pPr algn="ctr"/>
            <a:r>
              <a:rPr lang="en-US" b="1" dirty="0"/>
              <a:t>995</a:t>
            </a:r>
          </a:p>
          <a:p>
            <a:pPr algn="ctr"/>
            <a:r>
              <a:rPr lang="en-US" b="1" dirty="0"/>
              <a:t>Posts</a:t>
            </a:r>
            <a:endParaRPr lang="en-AE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F199D4-AD0F-021E-1BEF-A0F695CBE4B1}"/>
              </a:ext>
            </a:extLst>
          </p:cNvPr>
          <p:cNvSpPr txBox="1"/>
          <p:nvPr/>
        </p:nvSpPr>
        <p:spPr>
          <a:xfrm>
            <a:off x="2058669" y="2888686"/>
            <a:ext cx="14189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D61F25"/>
                </a:solidFill>
              </a:rPr>
              <a:t>Coca-Cola</a:t>
            </a:r>
            <a:r>
              <a:rPr lang="en-US" b="1" dirty="0"/>
              <a:t> </a:t>
            </a:r>
          </a:p>
          <a:p>
            <a:pPr algn="ctr"/>
            <a:r>
              <a:rPr lang="en-US" b="1" dirty="0"/>
              <a:t>963</a:t>
            </a:r>
          </a:p>
          <a:p>
            <a:pPr algn="ctr"/>
            <a:r>
              <a:rPr lang="en-US" b="1" dirty="0"/>
              <a:t>Post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1491957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88AC5A-61D9-1A24-37D9-B7F850B20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F5D788B-BD87-B29E-E036-C5E747511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DEFE4F9-1900-081D-EE6C-D9184B244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1B7086-B841-4D71-59B3-9CE357A04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813D45DA-B74D-70B5-9A46-0B75B27A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8CDE99-77F9-1330-A212-22C9A494E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9C3008-8F32-1DD2-F1FD-CF9B1223180C}"/>
              </a:ext>
            </a:extLst>
          </p:cNvPr>
          <p:cNvSpPr txBox="1"/>
          <p:nvPr/>
        </p:nvSpPr>
        <p:spPr>
          <a:xfrm>
            <a:off x="371094" y="1161288"/>
            <a:ext cx="3438144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134A84"/>
                </a:solidFill>
                <a:effectLst/>
                <a:latin typeface="system-ui"/>
              </a:rPr>
              <a:t>Exploratory</a:t>
            </a:r>
            <a:r>
              <a:rPr lang="en-GB" sz="4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ystem-ui"/>
              </a:rPr>
              <a:t> </a:t>
            </a: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D71F25"/>
                </a:solidFill>
                <a:effectLst/>
                <a:latin typeface="system-ui"/>
              </a:rPr>
              <a:t>Data Analysis</a:t>
            </a:r>
            <a:endParaRPr lang="en-US" sz="4000" b="1" dirty="0">
              <a:solidFill>
                <a:srgbClr val="D71F25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49DC3C-1EF7-8703-6A04-2247611F8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67AA8B-209F-FC12-6C2E-EA7DB0C43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95523-AD42-7046-2B41-ECEBA446FE13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14300">
              <a:spcAft>
                <a:spcPts val="600"/>
              </a:spcAft>
            </a:pPr>
            <a:r>
              <a:rPr lang="en-US" sz="2400" b="1" dirty="0"/>
              <a:t>Word Counts</a:t>
            </a:r>
          </a:p>
          <a:p>
            <a:pPr marL="114300">
              <a:spcAft>
                <a:spcPts val="600"/>
              </a:spcAft>
            </a:pPr>
            <a:endParaRPr lang="en-US" sz="2400" b="1" dirty="0"/>
          </a:p>
          <a:p>
            <a:pPr marL="114300">
              <a:spcAft>
                <a:spcPts val="600"/>
              </a:spcAft>
            </a:pPr>
            <a:r>
              <a:rPr lang="en-US" sz="1600" b="1" dirty="0"/>
              <a:t>Similarities in Lower Quartiles</a:t>
            </a:r>
          </a:p>
          <a:p>
            <a:pPr marL="114300">
              <a:spcAft>
                <a:spcPts val="600"/>
              </a:spcAft>
            </a:pPr>
            <a:endParaRPr lang="en-US" sz="1600" b="1" dirty="0"/>
          </a:p>
          <a:p>
            <a:pPr marL="114300">
              <a:spcAft>
                <a:spcPts val="600"/>
              </a:spcAft>
            </a:pPr>
            <a:r>
              <a:rPr lang="en-US" sz="1600" b="1" dirty="0"/>
              <a:t>Differences in Higher Quartiles</a:t>
            </a:r>
          </a:p>
          <a:p>
            <a:pPr marL="114300">
              <a:spcAft>
                <a:spcPts val="600"/>
              </a:spcAft>
            </a:pPr>
            <a:r>
              <a:rPr lang="en-US" sz="1600" dirty="0">
                <a:solidFill>
                  <a:srgbClr val="134A84"/>
                </a:solidFill>
              </a:rPr>
              <a:t>Pepsi </a:t>
            </a:r>
            <a:r>
              <a:rPr lang="en-US" sz="1600" dirty="0"/>
              <a:t>have more word counts than </a:t>
            </a:r>
            <a:r>
              <a:rPr lang="en-US" sz="1600" dirty="0">
                <a:solidFill>
                  <a:srgbClr val="D61F25"/>
                </a:solidFill>
              </a:rPr>
              <a:t>Coca-Cola</a:t>
            </a:r>
          </a:p>
          <a:p>
            <a:pPr marL="571500" lvl="1">
              <a:spcAft>
                <a:spcPts val="600"/>
              </a:spcAft>
            </a:pPr>
            <a:endParaRPr lang="en-US" sz="1600" b="1" dirty="0"/>
          </a:p>
        </p:txBody>
      </p:sp>
      <p:pic>
        <p:nvPicPr>
          <p:cNvPr id="6" name="Picture 5" descr="A red and blue diagram&#10;&#10;Description automatically generated">
            <a:extLst>
              <a:ext uri="{FF2B5EF4-FFF2-40B4-BE49-F238E27FC236}">
                <a16:creationId xmlns:a16="http://schemas.microsoft.com/office/drawing/2014/main" id="{E486C81D-BCAE-8560-7947-7038AED53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55" r="1915" b="8879"/>
          <a:stretch/>
        </p:blipFill>
        <p:spPr>
          <a:xfrm>
            <a:off x="5639754" y="1295969"/>
            <a:ext cx="5484496" cy="42660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3429B0-ABA1-DB64-E438-FBFD8205E418}"/>
              </a:ext>
            </a:extLst>
          </p:cNvPr>
          <p:cNvSpPr txBox="1"/>
          <p:nvPr/>
        </p:nvSpPr>
        <p:spPr>
          <a:xfrm>
            <a:off x="9488855" y="2938307"/>
            <a:ext cx="113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i="0" dirty="0">
                <a:ln>
                  <a:solidFill>
                    <a:schemeClr val="bg1"/>
                  </a:solidFill>
                </a:ln>
                <a:solidFill>
                  <a:srgbClr val="D71F25"/>
                </a:solidFill>
                <a:effectLst/>
                <a:latin typeface="system-ui"/>
              </a:rPr>
              <a:t>Coca-Cola</a:t>
            </a:r>
            <a:endParaRPr lang="en-AE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B6AFF2-36DB-829D-95FE-67851010E0ED}"/>
              </a:ext>
            </a:extLst>
          </p:cNvPr>
          <p:cNvSpPr txBox="1"/>
          <p:nvPr/>
        </p:nvSpPr>
        <p:spPr>
          <a:xfrm>
            <a:off x="9488855" y="3504642"/>
            <a:ext cx="113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i="0" dirty="0">
                <a:ln>
                  <a:solidFill>
                    <a:schemeClr val="bg1"/>
                  </a:solidFill>
                </a:ln>
                <a:solidFill>
                  <a:srgbClr val="134A84"/>
                </a:solidFill>
                <a:effectLst/>
                <a:latin typeface="system-ui"/>
              </a:rPr>
              <a:t>Pepsi</a:t>
            </a:r>
            <a:endParaRPr lang="en-AE" dirty="0">
              <a:solidFill>
                <a:srgbClr val="134A84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9F5E00-602A-5D83-7FFA-45029DDAC56D}"/>
              </a:ext>
            </a:extLst>
          </p:cNvPr>
          <p:cNvSpPr txBox="1"/>
          <p:nvPr/>
        </p:nvSpPr>
        <p:spPr>
          <a:xfrm>
            <a:off x="7787579" y="2011680"/>
            <a:ext cx="1601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i="0" dirty="0">
                <a:ln>
                  <a:solidFill>
                    <a:schemeClr val="bg1"/>
                  </a:solidFill>
                </a:ln>
                <a:solidFill>
                  <a:srgbClr val="D71F25"/>
                </a:solidFill>
                <a:effectLst/>
                <a:latin typeface="system-ui"/>
              </a:rPr>
              <a:t>Q3 – 43 words</a:t>
            </a:r>
            <a:endParaRPr lang="en-AE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2638F757-B99E-E84E-7102-114F3E47C87E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6885432" y="2196346"/>
            <a:ext cx="902147" cy="629150"/>
          </a:xfrm>
          <a:prstGeom prst="bentConnector3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3016860-0010-C04F-7551-E53D907B273C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7123176" y="4121455"/>
            <a:ext cx="652939" cy="423367"/>
          </a:xfrm>
          <a:prstGeom prst="bentConnector3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15B810C-76D3-88D1-0F3B-625C4B0614BB}"/>
              </a:ext>
            </a:extLst>
          </p:cNvPr>
          <p:cNvSpPr txBox="1"/>
          <p:nvPr/>
        </p:nvSpPr>
        <p:spPr>
          <a:xfrm>
            <a:off x="7776115" y="4360156"/>
            <a:ext cx="1601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i="0" dirty="0">
                <a:ln>
                  <a:solidFill>
                    <a:schemeClr val="bg1"/>
                  </a:solidFill>
                </a:ln>
                <a:solidFill>
                  <a:srgbClr val="134A84"/>
                </a:solidFill>
                <a:effectLst/>
                <a:latin typeface="system-ui"/>
              </a:rPr>
              <a:t>Q3 – 51 words</a:t>
            </a:r>
            <a:endParaRPr lang="en-AE" dirty="0">
              <a:solidFill>
                <a:srgbClr val="134A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670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6F51DD-D06B-C7B8-F16E-83ECD752C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2587214-4240-0691-535B-D160F19B3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B802D65-8599-B984-655A-E1A5619EC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B11663-1FD7-0A49-37B2-9D4D1B513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7DD6410-A401-57D9-5B9D-C20D21FE0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0D31F5-7413-7D37-650D-2F28AF825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52DA07-B8D2-5890-7026-29EFE66082F9}"/>
              </a:ext>
            </a:extLst>
          </p:cNvPr>
          <p:cNvSpPr txBox="1"/>
          <p:nvPr/>
        </p:nvSpPr>
        <p:spPr>
          <a:xfrm>
            <a:off x="371094" y="1161288"/>
            <a:ext cx="3438144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134A84"/>
                </a:solidFill>
                <a:effectLst/>
                <a:latin typeface="system-ui"/>
              </a:rPr>
              <a:t>Exploratory</a:t>
            </a:r>
            <a:r>
              <a:rPr lang="en-GB" sz="4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ystem-ui"/>
              </a:rPr>
              <a:t> </a:t>
            </a: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D71F25"/>
                </a:solidFill>
                <a:effectLst/>
                <a:latin typeface="system-ui"/>
              </a:rPr>
              <a:t>Data Analysis</a:t>
            </a:r>
            <a:endParaRPr lang="en-US" sz="4000" b="1" dirty="0">
              <a:solidFill>
                <a:srgbClr val="D71F25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FBCF16-EC6B-47D2-EC30-30E02C02E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ECAAAD9-0ECB-1D68-2C4F-691284C03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0330B5-41B4-CEB6-AC5A-A5CD59827705}"/>
              </a:ext>
            </a:extLst>
          </p:cNvPr>
          <p:cNvSpPr txBox="1"/>
          <p:nvPr/>
        </p:nvSpPr>
        <p:spPr>
          <a:xfrm>
            <a:off x="4062282" y="1190143"/>
            <a:ext cx="3789882" cy="1067002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marL="114300">
              <a:spcAft>
                <a:spcPts val="600"/>
              </a:spcAft>
            </a:pPr>
            <a:r>
              <a:rPr lang="en-US" sz="2400" b="1" dirty="0"/>
              <a:t>Common Words</a:t>
            </a:r>
          </a:p>
          <a:p>
            <a:pPr marL="114300">
              <a:spcAft>
                <a:spcPts val="600"/>
              </a:spcAft>
            </a:pPr>
            <a:r>
              <a:rPr lang="en-US" sz="1600" b="1" dirty="0"/>
              <a:t>Words that frequently show across all documents</a:t>
            </a:r>
          </a:p>
        </p:txBody>
      </p:sp>
      <p:pic>
        <p:nvPicPr>
          <p:cNvPr id="3" name="Picture 2" descr="A graph of red and blue bars&#10;&#10;Description automatically generated">
            <a:extLst>
              <a:ext uri="{FF2B5EF4-FFF2-40B4-BE49-F238E27FC236}">
                <a16:creationId xmlns:a16="http://schemas.microsoft.com/office/drawing/2014/main" id="{6EAC9D7B-35C8-9EC1-D1E6-8F447A8B2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27"/>
          <a:stretch/>
        </p:blipFill>
        <p:spPr>
          <a:xfrm>
            <a:off x="195060" y="2579502"/>
            <a:ext cx="11801880" cy="39227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E91F45-6ADC-AAA7-9D4D-94A72E98E333}"/>
              </a:ext>
            </a:extLst>
          </p:cNvPr>
          <p:cNvSpPr txBox="1"/>
          <p:nvPr/>
        </p:nvSpPr>
        <p:spPr>
          <a:xfrm>
            <a:off x="8105209" y="1223507"/>
            <a:ext cx="4044972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spcAft>
                <a:spcPts val="600"/>
              </a:spcAft>
            </a:pPr>
            <a:r>
              <a:rPr lang="en-US" sz="1800" b="1" dirty="0" err="1"/>
              <a:t>Stopwords</a:t>
            </a:r>
            <a:r>
              <a:rPr lang="en-US" sz="1800" b="1" dirty="0"/>
              <a:t>: </a:t>
            </a:r>
            <a:r>
              <a:rPr lang="en-US" sz="1800" dirty="0"/>
              <a:t>like, just, know, new, </a:t>
            </a:r>
            <a:r>
              <a:rPr lang="en-US" sz="1800" dirty="0" err="1"/>
              <a:t>im</a:t>
            </a:r>
            <a:r>
              <a:rPr lang="en-US" sz="1800" dirty="0"/>
              <a:t> (I’m), does</a:t>
            </a:r>
          </a:p>
          <a:p>
            <a:pPr marL="114300">
              <a:spcAft>
                <a:spcPts val="600"/>
              </a:spcAft>
            </a:pPr>
            <a:r>
              <a:rPr lang="en-US" sz="1800" b="1" dirty="0"/>
              <a:t>Keywords: </a:t>
            </a:r>
            <a:r>
              <a:rPr lang="en-US" sz="1800" dirty="0"/>
              <a:t>zero, sugar, bottle</a:t>
            </a:r>
            <a:endParaRPr lang="en-US" sz="1800" b="1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A3AAD459-5819-4FED-1E95-D9B97D09280D}"/>
              </a:ext>
            </a:extLst>
          </p:cNvPr>
          <p:cNvSpPr/>
          <p:nvPr/>
        </p:nvSpPr>
        <p:spPr>
          <a:xfrm>
            <a:off x="8517683" y="3326627"/>
            <a:ext cx="384048" cy="732862"/>
          </a:xfrm>
          <a:prstGeom prst="downArrow">
            <a:avLst/>
          </a:prstGeom>
          <a:solidFill>
            <a:srgbClr val="FF4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45773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3CE06-CE9B-902E-18DD-35CABAEB6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1CDAFE6-F2A2-FF22-0B43-DB5227ECB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C76E3BF-5996-EFE4-4B2E-E46FFC0C7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59142A-AAAD-6238-BB29-DE5A7BBC2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3E38FD63-6CE5-92EE-D38A-DD73609AA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8D8BBC-5A13-F76B-C40B-42ACCBF56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1C9BCE-875E-922F-077B-78271202C5F6}"/>
              </a:ext>
            </a:extLst>
          </p:cNvPr>
          <p:cNvSpPr txBox="1"/>
          <p:nvPr/>
        </p:nvSpPr>
        <p:spPr>
          <a:xfrm>
            <a:off x="371094" y="1161288"/>
            <a:ext cx="3438144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134A84"/>
                </a:solidFill>
                <a:effectLst/>
                <a:latin typeface="system-ui"/>
              </a:rPr>
              <a:t>Exploratory</a:t>
            </a:r>
            <a:r>
              <a:rPr lang="en-GB" sz="4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ystem-ui"/>
              </a:rPr>
              <a:t> </a:t>
            </a: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D71F25"/>
                </a:solidFill>
                <a:effectLst/>
                <a:latin typeface="system-ui"/>
              </a:rPr>
              <a:t>Data Analysis</a:t>
            </a:r>
            <a:endParaRPr lang="en-US" sz="4000" b="1" dirty="0">
              <a:solidFill>
                <a:srgbClr val="D71F25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7838D1-18B1-3997-5FD0-CDDE7FDC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BA996F-04A1-EFE1-AAB3-E2FBA4C84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aph of red and blue bars&#10;&#10;Description automatically generated">
            <a:extLst>
              <a:ext uri="{FF2B5EF4-FFF2-40B4-BE49-F238E27FC236}">
                <a16:creationId xmlns:a16="http://schemas.microsoft.com/office/drawing/2014/main" id="{18E2AE6D-5DB4-FBBC-9F3F-3249C7A1D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4" b="5397"/>
          <a:stretch/>
        </p:blipFill>
        <p:spPr>
          <a:xfrm>
            <a:off x="195060" y="2574027"/>
            <a:ext cx="11801880" cy="42839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09B7D4-978B-3561-DAC9-73C07EBFEE49}"/>
              </a:ext>
            </a:extLst>
          </p:cNvPr>
          <p:cNvSpPr txBox="1"/>
          <p:nvPr/>
        </p:nvSpPr>
        <p:spPr>
          <a:xfrm>
            <a:off x="4062282" y="1190143"/>
            <a:ext cx="3789882" cy="1067002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marL="114300">
              <a:spcAft>
                <a:spcPts val="600"/>
              </a:spcAft>
            </a:pPr>
            <a:r>
              <a:rPr lang="en-US" sz="2400" b="1" dirty="0"/>
              <a:t>Exclusive Words</a:t>
            </a:r>
          </a:p>
          <a:p>
            <a:pPr marL="114300">
              <a:spcAft>
                <a:spcPts val="600"/>
              </a:spcAft>
            </a:pPr>
            <a:r>
              <a:rPr lang="en-US" sz="1600" b="1" dirty="0"/>
              <a:t>Words that mostly show either in </a:t>
            </a:r>
            <a:r>
              <a:rPr lang="en-US" sz="1600" b="1" dirty="0">
                <a:solidFill>
                  <a:srgbClr val="134A84"/>
                </a:solidFill>
              </a:rPr>
              <a:t>Pepsi</a:t>
            </a:r>
            <a:r>
              <a:rPr lang="en-US" sz="1600" b="1" dirty="0"/>
              <a:t> or </a:t>
            </a:r>
            <a:r>
              <a:rPr lang="en-US" sz="1600" b="1" dirty="0">
                <a:solidFill>
                  <a:srgbClr val="F40009"/>
                </a:solidFill>
              </a:rPr>
              <a:t>Coca-Cola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166528-FA06-3588-E3EF-70AE58315C9D}"/>
              </a:ext>
            </a:extLst>
          </p:cNvPr>
          <p:cNvSpPr txBox="1"/>
          <p:nvPr/>
        </p:nvSpPr>
        <p:spPr>
          <a:xfrm>
            <a:off x="7852164" y="1429604"/>
            <a:ext cx="3789882" cy="827541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marL="114300">
              <a:spcAft>
                <a:spcPts val="600"/>
              </a:spcAft>
            </a:pPr>
            <a:r>
              <a:rPr lang="en-US" sz="1600" b="1" dirty="0"/>
              <a:t>Find the difference in the count of occurrences between </a:t>
            </a:r>
            <a:r>
              <a:rPr lang="en-US" sz="1600" b="1" dirty="0">
                <a:solidFill>
                  <a:srgbClr val="134A84"/>
                </a:solidFill>
              </a:rPr>
              <a:t>Pepsi</a:t>
            </a:r>
            <a:r>
              <a:rPr lang="en-US" sz="1600" b="1" dirty="0"/>
              <a:t> and </a:t>
            </a:r>
            <a:r>
              <a:rPr lang="en-US" sz="1600" b="1" dirty="0">
                <a:solidFill>
                  <a:srgbClr val="F40009"/>
                </a:solidFill>
              </a:rPr>
              <a:t>Coca-Cola</a:t>
            </a:r>
            <a:endParaRPr lang="en-US" sz="1100" b="1" dirty="0">
              <a:solidFill>
                <a:srgbClr val="F4000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25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AC326A-5380-4B2F-A366-BEF46B491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9A00EEF-6498-6EA6-9851-3EA3F237A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DB8FAC0-D288-84AE-831C-A53FE50E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334AF3-D16B-E373-4BB6-2CA4040B8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391954FC-17DB-5B0E-46A5-E81E42068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ED3737-F0FD-6B5F-2DFB-6CF5738C1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EDDACF-CCC1-159B-E83C-57D66586531A}"/>
              </a:ext>
            </a:extLst>
          </p:cNvPr>
          <p:cNvSpPr txBox="1"/>
          <p:nvPr/>
        </p:nvSpPr>
        <p:spPr>
          <a:xfrm>
            <a:off x="371094" y="1161288"/>
            <a:ext cx="3438144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134A84"/>
                </a:solidFill>
                <a:effectLst/>
                <a:latin typeface="system-ui"/>
              </a:rPr>
              <a:t>Exploratory</a:t>
            </a:r>
            <a:r>
              <a:rPr lang="en-GB" sz="4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ystem-ui"/>
              </a:rPr>
              <a:t> </a:t>
            </a: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D71F25"/>
                </a:solidFill>
                <a:effectLst/>
                <a:latin typeface="system-ui"/>
              </a:rPr>
              <a:t>Data Analysis</a:t>
            </a:r>
            <a:endParaRPr lang="en-US" sz="4000" b="1" dirty="0">
              <a:solidFill>
                <a:srgbClr val="D71F25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522502-2428-4C4A-4628-0CA4EB55A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ED725D5-70C0-867D-7D6A-31B38F0C5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word cloud with blue and red text&#10;&#10;Description automatically generated">
            <a:extLst>
              <a:ext uri="{FF2B5EF4-FFF2-40B4-BE49-F238E27FC236}">
                <a16:creationId xmlns:a16="http://schemas.microsoft.com/office/drawing/2014/main" id="{287B7196-35CF-8ED8-A455-877356BF1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862" y="787352"/>
            <a:ext cx="6464821" cy="54010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E636DB-A887-F5DA-66E5-C689F08EAF21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14300">
              <a:spcAft>
                <a:spcPts val="600"/>
              </a:spcAft>
            </a:pPr>
            <a:r>
              <a:rPr lang="en-US" sz="2400" b="1" dirty="0"/>
              <a:t>Word Cloud</a:t>
            </a:r>
          </a:p>
          <a:p>
            <a:pPr marL="114300">
              <a:spcAft>
                <a:spcPts val="600"/>
              </a:spcAft>
            </a:pPr>
            <a:endParaRPr lang="en-US" sz="2400" b="1" dirty="0"/>
          </a:p>
          <a:p>
            <a:pPr marL="114300">
              <a:spcAft>
                <a:spcPts val="600"/>
              </a:spcAft>
            </a:pPr>
            <a:r>
              <a:rPr lang="en-US" sz="1600" dirty="0"/>
              <a:t>This word cloud displays words in </a:t>
            </a:r>
            <a:r>
              <a:rPr lang="en-US" sz="1600" dirty="0">
                <a:solidFill>
                  <a:srgbClr val="F40009"/>
                </a:solidFill>
              </a:rPr>
              <a:t>red for Coca-Cola</a:t>
            </a:r>
            <a:r>
              <a:rPr lang="en-US" sz="1600" dirty="0"/>
              <a:t> and in </a:t>
            </a:r>
            <a:r>
              <a:rPr lang="en-US" sz="1600" dirty="0">
                <a:solidFill>
                  <a:srgbClr val="004A97"/>
                </a:solidFill>
              </a:rPr>
              <a:t>blue for Pepsi</a:t>
            </a:r>
            <a:r>
              <a:rPr lang="en-US" sz="1600" dirty="0"/>
              <a:t>, with word size reflecting the difference in occurrences between the two brands</a:t>
            </a:r>
            <a:r>
              <a:rPr lang="en-US" sz="1600" b="1" dirty="0">
                <a:solidFill>
                  <a:srgbClr val="D61F25"/>
                </a:solidFill>
              </a:rPr>
              <a:t> </a:t>
            </a:r>
            <a:endParaRPr lang="en-US" sz="1600" dirty="0">
              <a:solidFill>
                <a:srgbClr val="D61F25"/>
              </a:solidFill>
            </a:endParaRPr>
          </a:p>
          <a:p>
            <a:pPr marL="571500" lvl="1">
              <a:spcAft>
                <a:spcPts val="600"/>
              </a:spcAft>
            </a:pPr>
            <a:endParaRPr lang="en-US" sz="16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BC1AF5-1DEE-3349-60E7-7B9D9494AF50}"/>
              </a:ext>
            </a:extLst>
          </p:cNvPr>
          <p:cNvCxnSpPr>
            <a:cxnSpLocks/>
          </p:cNvCxnSpPr>
          <p:nvPr/>
        </p:nvCxnSpPr>
        <p:spPr>
          <a:xfrm>
            <a:off x="4241800" y="3987800"/>
            <a:ext cx="5450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3721901-15B6-5ADE-6C09-8F9850203B2E}"/>
              </a:ext>
            </a:extLst>
          </p:cNvPr>
          <p:cNvCxnSpPr>
            <a:cxnSpLocks/>
          </p:cNvCxnSpPr>
          <p:nvPr/>
        </p:nvCxnSpPr>
        <p:spPr>
          <a:xfrm>
            <a:off x="4241800" y="3987800"/>
            <a:ext cx="0" cy="1403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7C0584B-F703-4943-D900-A3DDD54F5EE4}"/>
              </a:ext>
            </a:extLst>
          </p:cNvPr>
          <p:cNvSpPr txBox="1"/>
          <p:nvPr/>
        </p:nvSpPr>
        <p:spPr>
          <a:xfrm>
            <a:off x="3018753" y="5449805"/>
            <a:ext cx="16555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Never seen this </a:t>
            </a:r>
            <a:r>
              <a:rPr lang="en-US" sz="800" dirty="0" err="1"/>
              <a:t>kinda</a:t>
            </a:r>
            <a:r>
              <a:rPr lang="en-US" sz="800" dirty="0"/>
              <a:t> Coke bottle. Pretty fun IMO.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1278C-F32A-3E94-9722-F373AC1C4918}"/>
              </a:ext>
            </a:extLst>
          </p:cNvPr>
          <p:cNvSpPr txBox="1"/>
          <p:nvPr/>
        </p:nvSpPr>
        <p:spPr>
          <a:xfrm>
            <a:off x="3018753" y="5753134"/>
            <a:ext cx="17350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Does anyone have any info about this Coca-Cola Hip Hop bottle?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E74803-E929-DE3D-CB6C-89DBF785A44F}"/>
              </a:ext>
            </a:extLst>
          </p:cNvPr>
          <p:cNvSpPr txBox="1"/>
          <p:nvPr/>
        </p:nvSpPr>
        <p:spPr>
          <a:xfrm>
            <a:off x="10461108" y="217438"/>
            <a:ext cx="1581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PepsiCo is closing 4 bottling plants and cutting nearly 400 jobs as it streamlines operations</a:t>
            </a:r>
          </a:p>
          <a:p>
            <a:r>
              <a:rPr lang="en-US" sz="800" dirty="0"/>
              <a:t>#pepsi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DD33F5-65D7-4C3B-6D2C-A9E7DDC8C7AE}"/>
              </a:ext>
            </a:extLst>
          </p:cNvPr>
          <p:cNvCxnSpPr>
            <a:cxnSpLocks/>
          </p:cNvCxnSpPr>
          <p:nvPr/>
        </p:nvCxnSpPr>
        <p:spPr>
          <a:xfrm>
            <a:off x="9916046" y="495300"/>
            <a:ext cx="5450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38D6A65-7FE8-D5E6-0A22-D5317690B155}"/>
              </a:ext>
            </a:extLst>
          </p:cNvPr>
          <p:cNvCxnSpPr>
            <a:cxnSpLocks/>
          </p:cNvCxnSpPr>
          <p:nvPr/>
        </p:nvCxnSpPr>
        <p:spPr>
          <a:xfrm>
            <a:off x="9916046" y="495300"/>
            <a:ext cx="27672" cy="1228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43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41ABF-83CF-D095-0EE9-FB9542A47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2F2AA62-8C07-964E-9CAE-21B357B35DFD}"/>
              </a:ext>
            </a:extLst>
          </p:cNvPr>
          <p:cNvSpPr txBox="1"/>
          <p:nvPr/>
        </p:nvSpPr>
        <p:spPr>
          <a:xfrm>
            <a:off x="371094" y="1161288"/>
            <a:ext cx="3438144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134A84"/>
                </a:solidFill>
                <a:effectLst/>
                <a:latin typeface="system-ui"/>
              </a:rPr>
              <a:t>Sentiment</a:t>
            </a:r>
            <a:r>
              <a:rPr lang="en-GB" sz="4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ystem-ui"/>
              </a:rPr>
              <a:t> </a:t>
            </a: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D71F25"/>
                </a:solidFill>
                <a:effectLst/>
                <a:latin typeface="system-ui"/>
              </a:rPr>
              <a:t>Analysis</a:t>
            </a:r>
            <a:endParaRPr lang="en-US" sz="4000" b="1" dirty="0">
              <a:solidFill>
                <a:srgbClr val="D71F25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814725-225F-6912-7F0E-70FBCDAE1065}"/>
              </a:ext>
            </a:extLst>
          </p:cNvPr>
          <p:cNvSpPr txBox="1"/>
          <p:nvPr/>
        </p:nvSpPr>
        <p:spPr>
          <a:xfrm>
            <a:off x="4804733" y="838121"/>
            <a:ext cx="1558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4A97"/>
                </a:solidFill>
              </a:rPr>
              <a:t>Pepsi</a:t>
            </a:r>
            <a:r>
              <a:rPr lang="en-US" sz="3600" dirty="0"/>
              <a:t> </a:t>
            </a:r>
            <a:endParaRPr lang="en-US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3EAC7-ADDE-E19F-92C4-DB51BD4603F5}"/>
              </a:ext>
            </a:extLst>
          </p:cNvPr>
          <p:cNvSpPr txBox="1"/>
          <p:nvPr/>
        </p:nvSpPr>
        <p:spPr>
          <a:xfrm>
            <a:off x="9110130" y="838122"/>
            <a:ext cx="2646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D61F25"/>
                </a:solidFill>
              </a:rPr>
              <a:t>Coca-Cola</a:t>
            </a:r>
            <a:r>
              <a:rPr lang="en-US" sz="3600" b="1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42AB0-2869-813C-FE07-C0599BDE570D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14300">
              <a:spcAft>
                <a:spcPts val="600"/>
              </a:spcAft>
            </a:pPr>
            <a:r>
              <a:rPr lang="en-US" sz="2400" b="1" dirty="0"/>
              <a:t>Compound Score</a:t>
            </a:r>
          </a:p>
          <a:p>
            <a:pPr marL="400050" indent="-285750">
              <a:spcAft>
                <a:spcPts val="600"/>
              </a:spcAft>
              <a:buFontTx/>
              <a:buChar char="-"/>
            </a:pPr>
            <a:r>
              <a:rPr lang="en-US" sz="1600" dirty="0"/>
              <a:t>Focus overall Sentiment</a:t>
            </a:r>
          </a:p>
          <a:p>
            <a:pPr marL="400050" indent="-285750">
              <a:spcAft>
                <a:spcPts val="600"/>
              </a:spcAft>
              <a:buFontTx/>
              <a:buChar char="-"/>
            </a:pPr>
            <a:r>
              <a:rPr lang="en-US" sz="1600" dirty="0"/>
              <a:t>Sensitive to modifiers, negations, and emphasis</a:t>
            </a:r>
          </a:p>
          <a:p>
            <a:pPr marL="400050" indent="-285750">
              <a:spcAft>
                <a:spcPts val="600"/>
              </a:spcAft>
              <a:buFontTx/>
              <a:buChar char="-"/>
            </a:pPr>
            <a:endParaRPr lang="en-US" sz="1600" b="1" dirty="0"/>
          </a:p>
          <a:p>
            <a:pPr marL="114300">
              <a:spcAft>
                <a:spcPts val="600"/>
              </a:spcAft>
            </a:pPr>
            <a:r>
              <a:rPr lang="en-US" sz="2400" b="1" dirty="0"/>
              <a:t>NPS </a:t>
            </a:r>
            <a:r>
              <a:rPr lang="en-US" sz="1600" dirty="0"/>
              <a:t>Net Promoter Score </a:t>
            </a:r>
          </a:p>
          <a:p>
            <a:pPr marL="114300">
              <a:spcAft>
                <a:spcPts val="600"/>
              </a:spcAft>
            </a:pPr>
            <a:r>
              <a:rPr lang="en-US" sz="1600" dirty="0"/>
              <a:t>is a metric used to gauge customer satisfaction, range between -1 and 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A8080D-B31A-3581-EC2A-32F31CCFD81B}"/>
              </a:ext>
            </a:extLst>
          </p:cNvPr>
          <p:cNvCxnSpPr/>
          <p:nvPr/>
        </p:nvCxnSpPr>
        <p:spPr>
          <a:xfrm>
            <a:off x="6500632" y="3071658"/>
            <a:ext cx="23042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42EF4C-2375-C6E2-EF05-000FE405A4FE}"/>
              </a:ext>
            </a:extLst>
          </p:cNvPr>
          <p:cNvCxnSpPr/>
          <p:nvPr/>
        </p:nvCxnSpPr>
        <p:spPr>
          <a:xfrm>
            <a:off x="6510528" y="3889594"/>
            <a:ext cx="23042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FE30FB3-5DAD-B851-34A9-1AF2E0BB581B}"/>
              </a:ext>
            </a:extLst>
          </p:cNvPr>
          <p:cNvSpPr txBox="1"/>
          <p:nvPr/>
        </p:nvSpPr>
        <p:spPr>
          <a:xfrm>
            <a:off x="7108459" y="2646516"/>
            <a:ext cx="1263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Score &gt; 0.05</a:t>
            </a:r>
            <a:endParaRPr lang="en-AE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7947A9-BF68-25D4-D554-5CCDF1956FA7}"/>
              </a:ext>
            </a:extLst>
          </p:cNvPr>
          <p:cNvSpPr txBox="1"/>
          <p:nvPr/>
        </p:nvSpPr>
        <p:spPr>
          <a:xfrm>
            <a:off x="7139293" y="4365896"/>
            <a:ext cx="1263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Score &lt; 0.05</a:t>
            </a:r>
            <a:endParaRPr lang="en-AE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3517B-26D9-F48E-EFC5-3A7F4F6690EE}"/>
              </a:ext>
            </a:extLst>
          </p:cNvPr>
          <p:cNvSpPr txBox="1"/>
          <p:nvPr/>
        </p:nvSpPr>
        <p:spPr>
          <a:xfrm>
            <a:off x="6632530" y="3548018"/>
            <a:ext cx="21723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- 0.05 &lt;= Score &lt;= 0.05</a:t>
            </a:r>
            <a:endParaRPr lang="en-AE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444410-A09B-9E33-194F-ACC45B666D6E}"/>
              </a:ext>
            </a:extLst>
          </p:cNvPr>
          <p:cNvSpPr txBox="1"/>
          <p:nvPr/>
        </p:nvSpPr>
        <p:spPr>
          <a:xfrm>
            <a:off x="6954571" y="5077889"/>
            <a:ext cx="1571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NPS</a:t>
            </a:r>
            <a:r>
              <a:rPr lang="en-US" sz="3600" dirty="0"/>
              <a:t> </a:t>
            </a:r>
            <a:endParaRPr lang="en-US" sz="3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4E4B23-179B-C440-EF72-77D89DD766C9}"/>
              </a:ext>
            </a:extLst>
          </p:cNvPr>
          <p:cNvSpPr txBox="1"/>
          <p:nvPr/>
        </p:nvSpPr>
        <p:spPr>
          <a:xfrm>
            <a:off x="4983468" y="2345659"/>
            <a:ext cx="1200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4A97"/>
                </a:solidFill>
              </a:rPr>
              <a:t>454</a:t>
            </a:r>
            <a:r>
              <a:rPr lang="en-US" sz="3600" dirty="0"/>
              <a:t> </a:t>
            </a:r>
            <a:endParaRPr lang="en-US" sz="3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86AE2A-96AA-E89B-8A27-5425A9611F08}"/>
              </a:ext>
            </a:extLst>
          </p:cNvPr>
          <p:cNvSpPr txBox="1"/>
          <p:nvPr/>
        </p:nvSpPr>
        <p:spPr>
          <a:xfrm>
            <a:off x="5046787" y="3972478"/>
            <a:ext cx="10743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4A97"/>
                </a:solidFill>
              </a:rPr>
              <a:t>187</a:t>
            </a:r>
            <a:r>
              <a:rPr lang="en-US" sz="3600" dirty="0"/>
              <a:t> </a:t>
            </a:r>
            <a:endParaRPr lang="en-US" sz="3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764A87-D753-118C-29E1-2ABBA6726925}"/>
              </a:ext>
            </a:extLst>
          </p:cNvPr>
          <p:cNvSpPr txBox="1"/>
          <p:nvPr/>
        </p:nvSpPr>
        <p:spPr>
          <a:xfrm>
            <a:off x="9862740" y="2345659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D61F25"/>
                </a:solidFill>
              </a:rPr>
              <a:t>477</a:t>
            </a:r>
            <a:r>
              <a:rPr lang="en-US" sz="3600" dirty="0">
                <a:solidFill>
                  <a:srgbClr val="D61F25"/>
                </a:solidFill>
              </a:rPr>
              <a:t> </a:t>
            </a:r>
            <a:endParaRPr lang="en-US" sz="3600" b="1" dirty="0">
              <a:solidFill>
                <a:srgbClr val="D61F25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0FFA8-1681-A0A7-A489-4DE6C73DD45D}"/>
              </a:ext>
            </a:extLst>
          </p:cNvPr>
          <p:cNvSpPr txBox="1"/>
          <p:nvPr/>
        </p:nvSpPr>
        <p:spPr>
          <a:xfrm>
            <a:off x="9881174" y="3972478"/>
            <a:ext cx="1104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D61F25"/>
                </a:solidFill>
              </a:rPr>
              <a:t>163</a:t>
            </a:r>
            <a:r>
              <a:rPr lang="en-US" sz="3600" dirty="0">
                <a:solidFill>
                  <a:srgbClr val="D61F25"/>
                </a:solidFill>
              </a:rPr>
              <a:t> </a:t>
            </a:r>
            <a:endParaRPr lang="en-US" sz="3600" b="1" dirty="0">
              <a:solidFill>
                <a:srgbClr val="D61F25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DD0FCA-9160-E33F-A660-8717B4E623B9}"/>
              </a:ext>
            </a:extLst>
          </p:cNvPr>
          <p:cNvSpPr txBox="1"/>
          <p:nvPr/>
        </p:nvSpPr>
        <p:spPr>
          <a:xfrm>
            <a:off x="4983468" y="3154600"/>
            <a:ext cx="1200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4A97"/>
                </a:solidFill>
              </a:rPr>
              <a:t>354</a:t>
            </a:r>
            <a:r>
              <a:rPr lang="en-US" sz="3600" dirty="0"/>
              <a:t> 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B4BD57-3200-878C-65E0-0C0DABB4EE88}"/>
              </a:ext>
            </a:extLst>
          </p:cNvPr>
          <p:cNvSpPr txBox="1"/>
          <p:nvPr/>
        </p:nvSpPr>
        <p:spPr>
          <a:xfrm>
            <a:off x="9845107" y="3154600"/>
            <a:ext cx="11769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D61F25"/>
                </a:solidFill>
              </a:rPr>
              <a:t>323</a:t>
            </a:r>
            <a:r>
              <a:rPr lang="en-US" sz="3600" dirty="0">
                <a:solidFill>
                  <a:srgbClr val="D61F25"/>
                </a:solidFill>
              </a:rPr>
              <a:t> </a:t>
            </a:r>
            <a:endParaRPr lang="en-US" sz="3600" b="1" dirty="0">
              <a:solidFill>
                <a:srgbClr val="D61F25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80F126-83EC-8106-495D-08D00E33F933}"/>
              </a:ext>
            </a:extLst>
          </p:cNvPr>
          <p:cNvSpPr txBox="1"/>
          <p:nvPr/>
        </p:nvSpPr>
        <p:spPr>
          <a:xfrm>
            <a:off x="4940988" y="5077889"/>
            <a:ext cx="1285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4A97"/>
                </a:solidFill>
              </a:rPr>
              <a:t>27%</a:t>
            </a:r>
            <a:r>
              <a:rPr lang="en-US" sz="3600" dirty="0"/>
              <a:t> </a:t>
            </a:r>
            <a:endParaRPr lang="en-US" sz="3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B8A277-5D93-3709-5865-23D8A525BA2B}"/>
              </a:ext>
            </a:extLst>
          </p:cNvPr>
          <p:cNvSpPr txBox="1"/>
          <p:nvPr/>
        </p:nvSpPr>
        <p:spPr>
          <a:xfrm>
            <a:off x="9771368" y="5002461"/>
            <a:ext cx="1324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D61F25"/>
                </a:solidFill>
              </a:rPr>
              <a:t>33%</a:t>
            </a:r>
            <a:r>
              <a:rPr lang="en-US" sz="3600" dirty="0">
                <a:solidFill>
                  <a:srgbClr val="D61F25"/>
                </a:solidFill>
              </a:rPr>
              <a:t> </a:t>
            </a:r>
            <a:endParaRPr lang="en-US" sz="3600" b="1" dirty="0">
              <a:solidFill>
                <a:srgbClr val="D61F25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041AD3-3905-0EB5-4C13-0C693EF24ABD}"/>
              </a:ext>
            </a:extLst>
          </p:cNvPr>
          <p:cNvSpPr txBox="1"/>
          <p:nvPr/>
        </p:nvSpPr>
        <p:spPr>
          <a:xfrm>
            <a:off x="7196623" y="2341537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Positive</a:t>
            </a:r>
            <a:endParaRPr lang="en-AE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331BEA-6A94-4827-D38E-6664EB1C7A52}"/>
              </a:ext>
            </a:extLst>
          </p:cNvPr>
          <p:cNvSpPr txBox="1"/>
          <p:nvPr/>
        </p:nvSpPr>
        <p:spPr>
          <a:xfrm>
            <a:off x="7227457" y="3277672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Neutral</a:t>
            </a:r>
            <a:endParaRPr lang="en-AE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FCE208-AD4B-3FB5-BE28-B8857249A40F}"/>
              </a:ext>
            </a:extLst>
          </p:cNvPr>
          <p:cNvSpPr txBox="1"/>
          <p:nvPr/>
        </p:nvSpPr>
        <p:spPr>
          <a:xfrm>
            <a:off x="7177764" y="4095607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Negative</a:t>
            </a:r>
            <a:endParaRPr lang="en-AE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CDF013-E271-F06C-2714-5CC69E154024}"/>
              </a:ext>
            </a:extLst>
          </p:cNvPr>
          <p:cNvSpPr txBox="1"/>
          <p:nvPr/>
        </p:nvSpPr>
        <p:spPr>
          <a:xfrm>
            <a:off x="5171018" y="1484452"/>
            <a:ext cx="825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995</a:t>
            </a:r>
          </a:p>
          <a:p>
            <a:pPr algn="ctr"/>
            <a:r>
              <a:rPr lang="en-US" b="1" dirty="0"/>
              <a:t>Posts</a:t>
            </a:r>
            <a:endParaRPr lang="en-AE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5F1BE1-1BF5-F2B7-5A7A-5ACB526EB559}"/>
              </a:ext>
            </a:extLst>
          </p:cNvPr>
          <p:cNvSpPr txBox="1"/>
          <p:nvPr/>
        </p:nvSpPr>
        <p:spPr>
          <a:xfrm>
            <a:off x="10083152" y="140047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963</a:t>
            </a:r>
          </a:p>
          <a:p>
            <a:pPr algn="ctr"/>
            <a:r>
              <a:rPr lang="en-US" b="1" dirty="0"/>
              <a:t>Post</a:t>
            </a:r>
            <a:endParaRPr lang="en-AE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3F6D6E-4706-889D-204B-693B16EE301F}"/>
              </a:ext>
            </a:extLst>
          </p:cNvPr>
          <p:cNvSpPr txBox="1"/>
          <p:nvPr/>
        </p:nvSpPr>
        <p:spPr>
          <a:xfrm>
            <a:off x="6744259" y="5759104"/>
            <a:ext cx="22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Positive - Negative</a:t>
            </a:r>
            <a:endParaRPr lang="en-AE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77F68B-2B7E-07E6-A552-6783BF9C4104}"/>
              </a:ext>
            </a:extLst>
          </p:cNvPr>
          <p:cNvSpPr txBox="1"/>
          <p:nvPr/>
        </p:nvSpPr>
        <p:spPr>
          <a:xfrm>
            <a:off x="7039104" y="6128436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Total Posts</a:t>
            </a:r>
            <a:endParaRPr lang="en-AE" b="1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ED01C03-FB8F-87D2-0FBE-CBC7C77F179B}"/>
              </a:ext>
            </a:extLst>
          </p:cNvPr>
          <p:cNvCxnSpPr/>
          <p:nvPr/>
        </p:nvCxnSpPr>
        <p:spPr>
          <a:xfrm>
            <a:off x="6744259" y="6128436"/>
            <a:ext cx="2284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02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3566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3AEFE-B90E-F7A1-61A4-1081A2910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17" y="1431416"/>
            <a:ext cx="4451985" cy="1153923"/>
          </a:xfrm>
        </p:spPr>
        <p:txBody>
          <a:bodyPr/>
          <a:lstStyle/>
          <a:p>
            <a:r>
              <a:rPr lang="en-US" dirty="0"/>
              <a:t>Vectorizer</a:t>
            </a:r>
          </a:p>
        </p:txBody>
      </p:sp>
      <p:sp>
        <p:nvSpPr>
          <p:cNvPr id="3" name="Content Placeholder 1051">
            <a:extLst>
              <a:ext uri="{FF2B5EF4-FFF2-40B4-BE49-F238E27FC236}">
                <a16:creationId xmlns:a16="http://schemas.microsoft.com/office/drawing/2014/main" id="{39238455-3290-8A12-24DF-5CDE8E0A7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717800"/>
            <a:ext cx="3438525" cy="3206750"/>
          </a:xfrm>
        </p:spPr>
        <p:txBody>
          <a:bodyPr anchor="t">
            <a:normAutofit/>
          </a:bodyPr>
          <a:lstStyle/>
          <a:p>
            <a:r>
              <a:rPr lang="en-US" sz="1700" dirty="0"/>
              <a:t>TF-IDF vectorizer</a:t>
            </a:r>
          </a:p>
          <a:p>
            <a:r>
              <a:rPr lang="en-US" sz="1700" dirty="0"/>
              <a:t>Count vectorizer</a:t>
            </a:r>
          </a:p>
        </p:txBody>
      </p:sp>
      <p:pic>
        <p:nvPicPr>
          <p:cNvPr id="4" name="Picture 3" descr="A graph of blue and red bars&#10;&#10;Description automatically generated">
            <a:extLst>
              <a:ext uri="{FF2B5EF4-FFF2-40B4-BE49-F238E27FC236}">
                <a16:creationId xmlns:a16="http://schemas.microsoft.com/office/drawing/2014/main" id="{93D2A8E2-20FE-C509-C020-1B4EEE5773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3" r="7486"/>
          <a:stretch/>
        </p:blipFill>
        <p:spPr>
          <a:xfrm>
            <a:off x="5449455" y="1545716"/>
            <a:ext cx="6541595" cy="43795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9DB309-44CB-87A2-BE25-3CF711BBA0E3}"/>
              </a:ext>
            </a:extLst>
          </p:cNvPr>
          <p:cNvSpPr txBox="1"/>
          <p:nvPr/>
        </p:nvSpPr>
        <p:spPr>
          <a:xfrm>
            <a:off x="424815" y="4918752"/>
            <a:ext cx="42282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Train score increased     </a:t>
            </a:r>
          </a:p>
          <a:p>
            <a:r>
              <a:rPr lang="en-US" sz="2000" dirty="0"/>
              <a:t>when using the TF-IDF vectorizer.</a:t>
            </a:r>
          </a:p>
          <a:p>
            <a:r>
              <a:rPr lang="en-US" sz="2000" dirty="0"/>
              <a:t>But not affect with Test Score</a:t>
            </a:r>
          </a:p>
        </p:txBody>
      </p:sp>
    </p:spTree>
    <p:extLst>
      <p:ext uri="{BB962C8B-B14F-4D97-AF65-F5344CB8AC3E}">
        <p14:creationId xmlns:p14="http://schemas.microsoft.com/office/powerpoint/2010/main" val="2774357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Content Placeholder 1051">
            <a:extLst>
              <a:ext uri="{FF2B5EF4-FFF2-40B4-BE49-F238E27FC236}">
                <a16:creationId xmlns:a16="http://schemas.microsoft.com/office/drawing/2014/main" id="{DC497184-26A8-1738-B444-94F4B5840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None </a:t>
            </a:r>
          </a:p>
          <a:p>
            <a:r>
              <a:rPr lang="en-US" sz="1700" dirty="0" err="1"/>
              <a:t>Lemmatizer</a:t>
            </a:r>
            <a:endParaRPr lang="en-US" sz="1700" dirty="0"/>
          </a:p>
          <a:p>
            <a:r>
              <a:rPr lang="en-US" sz="1700" dirty="0"/>
              <a:t>Stemmer</a:t>
            </a:r>
          </a:p>
        </p:txBody>
      </p:sp>
      <p:pic>
        <p:nvPicPr>
          <p:cNvPr id="2" name="Content Placeholder 6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F3248D7A-2371-8B44-09F0-E350DDC433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3" r="7934"/>
          <a:stretch/>
        </p:blipFill>
        <p:spPr>
          <a:xfrm>
            <a:off x="5155749" y="1278529"/>
            <a:ext cx="6752243" cy="450735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61477AE-CB92-3B97-541B-59D599634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17" y="1431416"/>
            <a:ext cx="4451985" cy="1153923"/>
          </a:xfrm>
        </p:spPr>
        <p:txBody>
          <a:bodyPr/>
          <a:lstStyle/>
          <a:p>
            <a:r>
              <a:rPr lang="en-US" dirty="0"/>
              <a:t>Tokenizer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BA496-410A-3F38-9278-4891CA71949D}"/>
              </a:ext>
            </a:extLst>
          </p:cNvPr>
          <p:cNvSpPr txBox="1"/>
          <p:nvPr/>
        </p:nvSpPr>
        <p:spPr>
          <a:xfrm>
            <a:off x="371094" y="5550195"/>
            <a:ext cx="49152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highest train score : </a:t>
            </a:r>
            <a:r>
              <a:rPr lang="en-US" sz="2000" b="1" dirty="0"/>
              <a:t>Naïve Bayes</a:t>
            </a:r>
          </a:p>
          <a:p>
            <a:r>
              <a:rPr lang="en-US" sz="2000" dirty="0"/>
              <a:t>The highest test score : </a:t>
            </a:r>
            <a:r>
              <a:rPr lang="en-US" sz="2000" b="1" dirty="0" err="1"/>
              <a:t>GredientBoosting</a:t>
            </a:r>
            <a:endParaRPr lang="en-US" sz="2000" b="1" dirty="0"/>
          </a:p>
          <a:p>
            <a:r>
              <a:rPr lang="en-US" sz="2000" dirty="0"/>
              <a:t>The least overfitting : </a:t>
            </a:r>
            <a:r>
              <a:rPr lang="en-US" sz="2000" b="1" dirty="0"/>
              <a:t>AdaBoost</a:t>
            </a:r>
          </a:p>
        </p:txBody>
      </p:sp>
    </p:spTree>
    <p:extLst>
      <p:ext uri="{BB962C8B-B14F-4D97-AF65-F5344CB8AC3E}">
        <p14:creationId xmlns:p14="http://schemas.microsoft.com/office/powerpoint/2010/main" val="582136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Content Placeholder 1051">
            <a:extLst>
              <a:ext uri="{FF2B5EF4-FFF2-40B4-BE49-F238E27FC236}">
                <a16:creationId xmlns:a16="http://schemas.microsoft.com/office/drawing/2014/main" id="{DC497184-26A8-1738-B444-94F4B5840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AdaBoost</a:t>
            </a:r>
          </a:p>
          <a:p>
            <a:r>
              <a:rPr lang="en-US" sz="1700" dirty="0" err="1"/>
              <a:t>GredientBoosting</a:t>
            </a:r>
            <a:endParaRPr lang="en-US" sz="1700" dirty="0"/>
          </a:p>
          <a:p>
            <a:r>
              <a:rPr lang="en-US" sz="1700" dirty="0"/>
              <a:t>Naïve Bayes</a:t>
            </a:r>
          </a:p>
        </p:txBody>
      </p:sp>
      <p:pic>
        <p:nvPicPr>
          <p:cNvPr id="8" name="Content Placeholder 6" descr="A graph of blue and orange bars&#10;&#10;Description automatically generated">
            <a:extLst>
              <a:ext uri="{FF2B5EF4-FFF2-40B4-BE49-F238E27FC236}">
                <a16:creationId xmlns:a16="http://schemas.microsoft.com/office/drawing/2014/main" id="{A946CEB1-B144-A837-18C9-214DBCC76E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5" t="3677" r="8848" b="1837"/>
          <a:stretch/>
        </p:blipFill>
        <p:spPr>
          <a:xfrm>
            <a:off x="5150494" y="1061961"/>
            <a:ext cx="6463016" cy="426110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046A24D-B513-18DE-6C63-9F4FCD8A4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17" y="1431416"/>
            <a:ext cx="4451985" cy="1153923"/>
          </a:xfrm>
        </p:spPr>
        <p:txBody>
          <a:bodyPr/>
          <a:lstStyle/>
          <a:p>
            <a:r>
              <a:rPr lang="en-US" dirty="0"/>
              <a:t>Classifier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3F5E4E-409D-0777-B28C-93ED0DCAC086}"/>
              </a:ext>
            </a:extLst>
          </p:cNvPr>
          <p:cNvSpPr txBox="1"/>
          <p:nvPr/>
        </p:nvSpPr>
        <p:spPr>
          <a:xfrm>
            <a:off x="371094" y="5550195"/>
            <a:ext cx="49152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highest train score : </a:t>
            </a:r>
            <a:r>
              <a:rPr lang="en-US" sz="2000" b="1" dirty="0"/>
              <a:t>Naïve Bayes</a:t>
            </a:r>
          </a:p>
          <a:p>
            <a:r>
              <a:rPr lang="en-US" sz="2000" dirty="0"/>
              <a:t>The highest test score : </a:t>
            </a:r>
            <a:r>
              <a:rPr lang="en-US" sz="2000" b="1" dirty="0" err="1"/>
              <a:t>GredientBoosting</a:t>
            </a:r>
            <a:endParaRPr lang="en-US" sz="2000" b="1" dirty="0"/>
          </a:p>
          <a:p>
            <a:r>
              <a:rPr lang="en-US" sz="2000" dirty="0"/>
              <a:t>The least overfitting : </a:t>
            </a:r>
            <a:r>
              <a:rPr lang="en-US" sz="2000" b="1" dirty="0"/>
              <a:t>AdaBoost</a:t>
            </a:r>
          </a:p>
        </p:txBody>
      </p:sp>
    </p:spTree>
    <p:extLst>
      <p:ext uri="{BB962C8B-B14F-4D97-AF65-F5344CB8AC3E}">
        <p14:creationId xmlns:p14="http://schemas.microsoft.com/office/powerpoint/2010/main" val="181495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A908DE10-4433-D4D1-7373-AD0398DCF611}"/>
              </a:ext>
            </a:extLst>
          </p:cNvPr>
          <p:cNvGraphicFramePr/>
          <p:nvPr/>
        </p:nvGraphicFramePr>
        <p:xfrm>
          <a:off x="2100943" y="2477915"/>
          <a:ext cx="7990113" cy="3820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Title 1">
            <a:extLst>
              <a:ext uri="{FF2B5EF4-FFF2-40B4-BE49-F238E27FC236}">
                <a16:creationId xmlns:a16="http://schemas.microsoft.com/office/drawing/2014/main" id="{D2CFFD6F-D4C9-A634-396F-0D8EBDC88DF5}"/>
              </a:ext>
            </a:extLst>
          </p:cNvPr>
          <p:cNvSpPr txBox="1">
            <a:spLocks/>
          </p:cNvSpPr>
          <p:nvPr/>
        </p:nvSpPr>
        <p:spPr>
          <a:xfrm>
            <a:off x="861745" y="821816"/>
            <a:ext cx="10078398" cy="1153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Best vectorizer params for Naïve Bayes </a:t>
            </a:r>
          </a:p>
        </p:txBody>
      </p:sp>
    </p:spTree>
    <p:extLst>
      <p:ext uri="{BB962C8B-B14F-4D97-AF65-F5344CB8AC3E}">
        <p14:creationId xmlns:p14="http://schemas.microsoft.com/office/powerpoint/2010/main" val="760467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E88F6CC-66F8-9A30-2F70-DD2A2F978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Best Parameters for tuning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C129781-E7E6-6D4E-758D-98C60F8F0B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18588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7657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F822-A1B1-B527-587C-B0C0B79C5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</a:t>
            </a:r>
            <a:endParaRPr lang="en-AE" dirty="0"/>
          </a:p>
        </p:txBody>
      </p:sp>
      <p:pic>
        <p:nvPicPr>
          <p:cNvPr id="6" name="Picture 5" descr="A close-up of a text&#10;&#10;Description automatically generated">
            <a:extLst>
              <a:ext uri="{FF2B5EF4-FFF2-40B4-BE49-F238E27FC236}">
                <a16:creationId xmlns:a16="http://schemas.microsoft.com/office/drawing/2014/main" id="{EF210EFC-E4FD-831A-83D7-AB2DFBCC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5126"/>
            <a:ext cx="12192000" cy="3126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4ED790-A6D6-6B4A-F5F6-178DB31AC55E}"/>
              </a:ext>
            </a:extLst>
          </p:cNvPr>
          <p:cNvSpPr txBox="1"/>
          <p:nvPr/>
        </p:nvSpPr>
        <p:spPr>
          <a:xfrm>
            <a:off x="466344" y="5742432"/>
            <a:ext cx="1936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Accuracy = 57%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FB4568-EB5D-598D-2B6A-95C4334FB069}"/>
              </a:ext>
            </a:extLst>
          </p:cNvPr>
          <p:cNvSpPr txBox="1"/>
          <p:nvPr/>
        </p:nvSpPr>
        <p:spPr>
          <a:xfrm>
            <a:off x="2813304" y="5722465"/>
            <a:ext cx="19191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Precision = 25%</a:t>
            </a:r>
          </a:p>
          <a:p>
            <a:r>
              <a:rPr lang="en-US" dirty="0" err="1"/>
              <a:t>Tp</a:t>
            </a:r>
            <a:r>
              <a:rPr lang="en-US" dirty="0"/>
              <a:t>/(</a:t>
            </a:r>
            <a:r>
              <a:rPr lang="en-US" dirty="0" err="1"/>
              <a:t>tp+fp</a:t>
            </a:r>
            <a:r>
              <a:rPr lang="en-US" dirty="0"/>
              <a:t>)</a:t>
            </a:r>
            <a:endParaRPr lang="en-A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BB077-8130-D10D-980B-F9D5F98DCC76}"/>
              </a:ext>
            </a:extLst>
          </p:cNvPr>
          <p:cNvSpPr txBox="1"/>
          <p:nvPr/>
        </p:nvSpPr>
        <p:spPr>
          <a:xfrm>
            <a:off x="4967910" y="5748683"/>
            <a:ext cx="1712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Recall = 100%</a:t>
            </a:r>
          </a:p>
          <a:p>
            <a:r>
              <a:rPr lang="en-US" dirty="0" err="1"/>
              <a:t>Tp</a:t>
            </a:r>
            <a:r>
              <a:rPr lang="en-US" dirty="0"/>
              <a:t> / (</a:t>
            </a:r>
            <a:r>
              <a:rPr lang="en-US" dirty="0" err="1"/>
              <a:t>tp+fn</a:t>
            </a:r>
            <a:r>
              <a:rPr lang="en-US" dirty="0"/>
              <a:t>)</a:t>
            </a:r>
            <a:endParaRPr lang="en-A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C267D9-D7C7-ED6C-97C3-FE14B86BE7E8}"/>
              </a:ext>
            </a:extLst>
          </p:cNvPr>
          <p:cNvSpPr txBox="1"/>
          <p:nvPr/>
        </p:nvSpPr>
        <p:spPr>
          <a:xfrm>
            <a:off x="7146713" y="5752041"/>
            <a:ext cx="20649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Specificity = 50%</a:t>
            </a:r>
          </a:p>
          <a:p>
            <a:r>
              <a:rPr lang="en-US" dirty="0" err="1"/>
              <a:t>tn</a:t>
            </a:r>
            <a:r>
              <a:rPr lang="en-US" dirty="0"/>
              <a:t> / (</a:t>
            </a:r>
            <a:r>
              <a:rPr lang="en-US" dirty="0" err="1"/>
              <a:t>tn+fp</a:t>
            </a:r>
            <a:r>
              <a:rPr lang="en-US" dirty="0"/>
              <a:t>)</a:t>
            </a:r>
            <a:endParaRPr lang="en-A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8941F6-DE9D-499A-3E7B-DC9E63D0C6FF}"/>
              </a:ext>
            </a:extLst>
          </p:cNvPr>
          <p:cNvSpPr txBox="1"/>
          <p:nvPr/>
        </p:nvSpPr>
        <p:spPr>
          <a:xfrm>
            <a:off x="10169288" y="5788598"/>
            <a:ext cx="1114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f1 = 40%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659093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F2ECD-BFD5-E881-D6AD-31503F9C0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2F857DD-921B-45B3-8EDA-FB5079C9D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3202D47-3FEC-F30D-F026-B640D0C5C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F5B2AE-8720-55EF-1B27-7A847503E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50FDE42-04F9-45DB-1DAF-F45D67CB0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6" descr="The Coca-Cola and Pepsi Duopoly: The Secret Ingredients">
            <a:extLst>
              <a:ext uri="{FF2B5EF4-FFF2-40B4-BE49-F238E27FC236}">
                <a16:creationId xmlns:a16="http://schemas.microsoft.com/office/drawing/2014/main" id="{E28A5E70-9E07-F81A-AE03-9B865EEB64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3" r="18277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F784A420-03B8-F1F4-694B-B84EA4051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5079EB-B16D-98AC-E3B8-F822941808A4}"/>
              </a:ext>
            </a:extLst>
          </p:cNvPr>
          <p:cNvSpPr txBox="1"/>
          <p:nvPr/>
        </p:nvSpPr>
        <p:spPr>
          <a:xfrm>
            <a:off x="371094" y="1161288"/>
            <a:ext cx="3438144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050E8B"/>
                </a:solidFill>
                <a:effectLst/>
                <a:latin typeface="system-ui"/>
              </a:rPr>
              <a:t>Key</a:t>
            </a:r>
            <a:r>
              <a:rPr lang="en-GB" sz="4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ystem-ui"/>
              </a:rPr>
              <a:t> </a:t>
            </a:r>
            <a:r>
              <a:rPr lang="en-GB" sz="4000" b="1" i="0" dirty="0">
                <a:ln>
                  <a:solidFill>
                    <a:schemeClr val="bg1"/>
                  </a:solidFill>
                </a:ln>
                <a:solidFill>
                  <a:srgbClr val="D41515"/>
                </a:solidFill>
                <a:effectLst/>
                <a:latin typeface="system-ui"/>
              </a:rPr>
              <a:t>Findings</a:t>
            </a:r>
            <a:endParaRPr lang="en-US" sz="4000" b="1" dirty="0">
              <a:latin typeface="+mj-lt"/>
              <a:ea typeface="+mj-ea"/>
              <a:cs typeface="+mj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747817-D297-B81D-4E68-79125F6DB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D57AFB-EED0-5FB0-D0DF-C82C633D0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11E8A8-6C32-9A7C-8510-3F429ED24372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What People Are Talking About:</a:t>
            </a:r>
            <a:r>
              <a:rPr lang="en-US" dirty="0"/>
              <a:t> </a:t>
            </a:r>
          </a:p>
          <a:p>
            <a:pPr marL="114300">
              <a:spcAft>
                <a:spcPts val="600"/>
              </a:spcAft>
            </a:pPr>
            <a:r>
              <a:rPr lang="en-US" sz="1400" b="1" dirty="0">
                <a:solidFill>
                  <a:srgbClr val="004A97"/>
                </a:solidFill>
              </a:rPr>
              <a:t>Pepsi: </a:t>
            </a:r>
            <a:r>
              <a:rPr lang="en-US" sz="1400" dirty="0"/>
              <a:t>Jobs</a:t>
            </a:r>
          </a:p>
          <a:p>
            <a:pPr marL="114300">
              <a:spcAft>
                <a:spcPts val="600"/>
              </a:spcAft>
            </a:pPr>
            <a:r>
              <a:rPr lang="en-US" sz="1400" b="1" dirty="0">
                <a:solidFill>
                  <a:srgbClr val="D61F25"/>
                </a:solidFill>
              </a:rPr>
              <a:t>Coca-Cola: </a:t>
            </a:r>
            <a:r>
              <a:rPr lang="en-US" sz="1400" dirty="0"/>
              <a:t>Oreo, zero, bottles</a:t>
            </a:r>
          </a:p>
          <a:p>
            <a:pPr marL="114300">
              <a:spcAft>
                <a:spcPts val="600"/>
              </a:spcAft>
            </a:pPr>
            <a:r>
              <a:rPr lang="en-US" sz="1400" b="1" dirty="0"/>
              <a:t>Sentiment: </a:t>
            </a:r>
            <a:r>
              <a:rPr lang="en-US" sz="1400" b="1" dirty="0">
                <a:solidFill>
                  <a:srgbClr val="004A97"/>
                </a:solidFill>
              </a:rPr>
              <a:t>Pepsi </a:t>
            </a:r>
            <a:r>
              <a:rPr lang="en-US" sz="1400" b="1" dirty="0"/>
              <a:t>&lt;</a:t>
            </a:r>
            <a:r>
              <a:rPr lang="en-US" sz="1400" b="1" dirty="0">
                <a:solidFill>
                  <a:srgbClr val="004A97"/>
                </a:solidFill>
              </a:rPr>
              <a:t> </a:t>
            </a:r>
            <a:r>
              <a:rPr lang="en-US" sz="1400" b="1" dirty="0">
                <a:solidFill>
                  <a:srgbClr val="D61F25"/>
                </a:solidFill>
              </a:rPr>
              <a:t>Coca-Cola</a:t>
            </a:r>
          </a:p>
          <a:p>
            <a:pPr marL="114300">
              <a:spcAft>
                <a:spcPts val="600"/>
              </a:spcAft>
            </a:pPr>
            <a:endParaRPr lang="en-US" sz="1400" b="1" dirty="0"/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Matching Brand Identity:</a:t>
            </a:r>
          </a:p>
        </p:txBody>
      </p:sp>
    </p:spTree>
    <p:extLst>
      <p:ext uri="{BB962C8B-B14F-4D97-AF65-F5344CB8AC3E}">
        <p14:creationId xmlns:p14="http://schemas.microsoft.com/office/powerpoint/2010/main" val="177395795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557</Words>
  <Application>Microsoft Office PowerPoint</Application>
  <PresentationFormat>Widescreen</PresentationFormat>
  <Paragraphs>142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Neue Haas Grotesk Text Pro</vt:lpstr>
      <vt:lpstr>system-ui</vt:lpstr>
      <vt:lpstr>AccentBoxVTI</vt:lpstr>
      <vt:lpstr>Understanding  Pepsi and Coca-Cola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Vectorizer</vt:lpstr>
      <vt:lpstr>Tokenizer</vt:lpstr>
      <vt:lpstr>Classifier</vt:lpstr>
      <vt:lpstr>PowerPoint Presentation</vt:lpstr>
      <vt:lpstr>Best Parameters for tuning</vt:lpstr>
      <vt:lpstr>Application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 naris</dc:creator>
  <cp:lastModifiedBy>ab naris</cp:lastModifiedBy>
  <cp:revision>9</cp:revision>
  <dcterms:created xsi:type="dcterms:W3CDTF">2024-11-21T04:13:01Z</dcterms:created>
  <dcterms:modified xsi:type="dcterms:W3CDTF">2024-11-21T14:01:01Z</dcterms:modified>
</cp:coreProperties>
</file>